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notesSlides/notesSlide6.xml" ContentType="application/vnd.openxmlformats-officedocument.presentationml.notesSlide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16" r:id="rId5"/>
    <p:sldId id="264" r:id="rId6"/>
    <p:sldId id="352" r:id="rId7"/>
    <p:sldId id="363" r:id="rId8"/>
    <p:sldId id="2283" r:id="rId9"/>
    <p:sldId id="2295" r:id="rId10"/>
    <p:sldId id="2296" r:id="rId11"/>
    <p:sldId id="2284" r:id="rId12"/>
    <p:sldId id="2294" r:id="rId13"/>
    <p:sldId id="2285" r:id="rId14"/>
    <p:sldId id="2286" r:id="rId15"/>
    <p:sldId id="2287" r:id="rId16"/>
    <p:sldId id="2288" r:id="rId17"/>
    <p:sldId id="2289" r:id="rId18"/>
    <p:sldId id="2291" r:id="rId19"/>
    <p:sldId id="341" r:id="rId20"/>
    <p:sldId id="354" r:id="rId21"/>
    <p:sldId id="361" r:id="rId22"/>
    <p:sldId id="357" r:id="rId23"/>
    <p:sldId id="358" r:id="rId24"/>
    <p:sldId id="359" r:id="rId25"/>
    <p:sldId id="360" r:id="rId26"/>
    <p:sldId id="362" r:id="rId27"/>
    <p:sldId id="270" r:id="rId28"/>
  </p:sldIdLst>
  <p:sldSz cx="9144000" cy="6858000" type="screen4x3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5511" userDrawn="1">
          <p15:clr>
            <a:srgbClr val="A4A3A4"/>
          </p15:clr>
        </p15:guide>
        <p15:guide id="5" orient="horz" pos="336" userDrawn="1">
          <p15:clr>
            <a:srgbClr val="A4A3A4"/>
          </p15:clr>
        </p15:guide>
        <p15:guide id="6" orient="horz" pos="9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30">
          <p15:clr>
            <a:srgbClr val="A4A3A4"/>
          </p15:clr>
        </p15:guide>
        <p15:guide id="2" pos="345">
          <p15:clr>
            <a:srgbClr val="A4A3A4"/>
          </p15:clr>
        </p15:guide>
        <p15:guide id="3" pos="397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7C4A6-9B90-4052-9DE9-804B2A850EB8}" v="3" dt="2026-05-20T14:28:58.103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60" autoAdjust="0"/>
    <p:restoredTop sz="96247" autoAdjust="0"/>
  </p:normalViewPr>
  <p:slideViewPr>
    <p:cSldViewPr snapToGrid="0" snapToObjects="1">
      <p:cViewPr varScale="1">
        <p:scale>
          <a:sx n="94" d="100"/>
          <a:sy n="94" d="100"/>
        </p:scale>
        <p:origin x="640" y="-1300"/>
      </p:cViewPr>
      <p:guideLst>
        <p:guide pos="5511"/>
        <p:guide orient="horz" pos="336"/>
        <p:guide orient="horz" pos="923"/>
      </p:guideLst>
    </p:cSldViewPr>
  </p:slideViewPr>
  <p:outlineViewPr>
    <p:cViewPr>
      <p:scale>
        <a:sx n="33" d="100"/>
        <a:sy n="33" d="100"/>
      </p:scale>
      <p:origin x="0" y="-766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3" d="100"/>
          <a:sy n="83" d="100"/>
        </p:scale>
        <p:origin x="3852" y="96"/>
      </p:cViewPr>
      <p:guideLst>
        <p:guide orient="horz" pos="2330"/>
        <p:guide pos="345"/>
        <p:guide pos="39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hanth Patil" userId="3d3c8359-b890-4fd1-9839-a3e2fe6dcbfb" providerId="ADAL" clId="{A1CE6076-B9C8-4E69-8402-B53FBF6015CC}"/>
    <pc:docChg chg="undo custSel modSld">
      <pc:chgData name="Prashanth Patil" userId="3d3c8359-b890-4fd1-9839-a3e2fe6dcbfb" providerId="ADAL" clId="{A1CE6076-B9C8-4E69-8402-B53FBF6015CC}" dt="2026-05-20T14:28:58.103" v="6"/>
      <pc:docMkLst>
        <pc:docMk/>
      </pc:docMkLst>
      <pc:sldChg chg="modSp mod">
        <pc:chgData name="Prashanth Patil" userId="3d3c8359-b890-4fd1-9839-a3e2fe6dcbfb" providerId="ADAL" clId="{A1CE6076-B9C8-4E69-8402-B53FBF6015CC}" dt="2026-04-29T20:12:52.396" v="2" actId="14734"/>
        <pc:sldMkLst>
          <pc:docMk/>
          <pc:sldMk cId="3060881631" sldId="2284"/>
        </pc:sldMkLst>
        <pc:graphicFrameChg chg="modGraphic">
          <ac:chgData name="Prashanth Patil" userId="3d3c8359-b890-4fd1-9839-a3e2fe6dcbfb" providerId="ADAL" clId="{A1CE6076-B9C8-4E69-8402-B53FBF6015CC}" dt="2026-04-29T20:12:52.396" v="2" actId="14734"/>
          <ac:graphicFrameMkLst>
            <pc:docMk/>
            <pc:sldMk cId="3060881631" sldId="2284"/>
            <ac:graphicFrameMk id="228" creationId="{6C00CA4B-BF7F-D90F-E4D5-AF058024EBE1}"/>
          </ac:graphicFrameMkLst>
        </pc:graphicFrameChg>
      </pc:sldChg>
      <pc:sldChg chg="modSp mod">
        <pc:chgData name="Prashanth Patil" userId="3d3c8359-b890-4fd1-9839-a3e2fe6dcbfb" providerId="ADAL" clId="{A1CE6076-B9C8-4E69-8402-B53FBF6015CC}" dt="2026-04-29T20:02:42.969" v="1" actId="14734"/>
        <pc:sldMkLst>
          <pc:docMk/>
          <pc:sldMk cId="3991902634" sldId="2286"/>
        </pc:sldMkLst>
        <pc:graphicFrameChg chg="modGraphic">
          <ac:chgData name="Prashanth Patil" userId="3d3c8359-b890-4fd1-9839-a3e2fe6dcbfb" providerId="ADAL" clId="{A1CE6076-B9C8-4E69-8402-B53FBF6015CC}" dt="2026-04-29T20:02:42.969" v="1" actId="14734"/>
          <ac:graphicFrameMkLst>
            <pc:docMk/>
            <pc:sldMk cId="3991902634" sldId="2286"/>
            <ac:graphicFrameMk id="8" creationId="{285357CA-43B1-0F8C-5124-A7E7D1F01031}"/>
          </ac:graphicFrameMkLst>
        </pc:graphicFrameChg>
      </pc:sldChg>
      <pc:sldChg chg="addSp modSp mod">
        <pc:chgData name="Prashanth Patil" userId="3d3c8359-b890-4fd1-9839-a3e2fe6dcbfb" providerId="ADAL" clId="{A1CE6076-B9C8-4E69-8402-B53FBF6015CC}" dt="2026-05-20T14:28:58.103" v="6"/>
        <pc:sldMkLst>
          <pc:docMk/>
          <pc:sldMk cId="3482635708" sldId="2289"/>
        </pc:sldMkLst>
        <pc:spChg chg="add mod">
          <ac:chgData name="Prashanth Patil" userId="3d3c8359-b890-4fd1-9839-a3e2fe6dcbfb" providerId="ADAL" clId="{A1CE6076-B9C8-4E69-8402-B53FBF6015CC}" dt="2026-05-20T14:28:58.103" v="6"/>
          <ac:spMkLst>
            <pc:docMk/>
            <pc:sldMk cId="3482635708" sldId="2289"/>
            <ac:spMk id="3" creationId="{A13969FB-4F14-DC51-3F73-2BEC8FB1CF9A}"/>
          </ac:spMkLst>
        </pc:spChg>
        <pc:spChg chg="add mod">
          <ac:chgData name="Prashanth Patil" userId="3d3c8359-b890-4fd1-9839-a3e2fe6dcbfb" providerId="ADAL" clId="{A1CE6076-B9C8-4E69-8402-B53FBF6015CC}" dt="2026-05-20T14:28:58.103" v="6"/>
          <ac:spMkLst>
            <pc:docMk/>
            <pc:sldMk cId="3482635708" sldId="2289"/>
            <ac:spMk id="6" creationId="{56394E94-B8A7-E999-1F8F-1772B355AADB}"/>
          </ac:spMkLst>
        </pc:spChg>
        <pc:graphicFrameChg chg="mod modGraphic">
          <ac:chgData name="Prashanth Patil" userId="3d3c8359-b890-4fd1-9839-a3e2fe6dcbfb" providerId="ADAL" clId="{A1CE6076-B9C8-4E69-8402-B53FBF6015CC}" dt="2026-05-20T14:28:53.216" v="5"/>
          <ac:graphicFrameMkLst>
            <pc:docMk/>
            <pc:sldMk cId="3482635708" sldId="2289"/>
            <ac:graphicFrameMk id="8" creationId="{B35E9413-671E-59B7-A4DA-752153FF1F6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45FD6-6E8E-4481-9C29-1B483B424A57}" type="slidenum">
              <a:rPr sz="1400"/>
              <a:t>‹#›</a:t>
            </a:fld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7229534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6825" y="319088"/>
            <a:ext cx="4322763" cy="3241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44513" y="3718559"/>
            <a:ext cx="5764213" cy="495808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 noProof="0" dirty="0"/>
              <a:t>Click to edit Master text styles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>
                <a:latin typeface="+mn-lt"/>
              </a:defRPr>
            </a:lvl1pPr>
          </a:lstStyle>
          <a:p>
            <a:fld id="{4FF0573C-F130-4D1E-A886-85FBB65D3A1B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63378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749808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33272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16736" indent="-171450" algn="l" defTabSz="914400" rtl="0" eaLnBrk="1" latinLnBrk="0" hangingPunct="1">
      <a:spcBef>
        <a:spcPts val="600"/>
      </a:spcBef>
      <a:buClr>
        <a:schemeClr val="tx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81655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4E14-56B0-80DF-7975-5E2D1013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E9F0B-3CCD-2105-9243-C857582AF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8B222E-125D-679A-9A89-03373A436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5DF0F-7C01-2B15-68E4-B7322185B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0364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 RF-50, all tenors up to 10yr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18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9829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B5103-4F25-B76A-9E3B-3CDB73E5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554309-A806-9A87-BEFC-EBAECA66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2793E0-7396-DCB7-B7BC-4D5BAA107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C4344-8A46-7684-8F21-ECEDEAA2F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19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1233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C5E7F-BA85-BED7-0910-0BDDE4CC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6C988-4BEE-9808-7B83-077FB522E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24507-F95E-E00B-B8B9-A0EA969CE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7B7FF-8FDF-7909-2282-7015350690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814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7DD38-835A-C99D-9265-6A962F08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552FD8-019C-9767-4145-3F5FCAC6C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87B50-D04F-8D84-281E-027DF6780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5966C-2095-EE14-AB37-AB33B674D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9618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2FE2-48D5-1CF5-F5D1-FFA7A282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E7F06-1304-2245-C769-F42D569502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705B9-016A-3A47-8002-16CE5BB49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Combine impacts by ES Segment and Asset Group (Interest Rate, Public Equity, ALDA, FX) Roll up to total company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2E409-FC92-063F-C342-BA66B3B6E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88268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3E73-76E0-447D-C370-2FA72FBA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30217-702D-8BA2-E87D-3968AF136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1816D-3D14-F445-3C94-239B81E23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2B72B-E8B6-9A55-3589-E63B8EA8D8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890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6825" y="319088"/>
            <a:ext cx="4322763" cy="3241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F0573C-F130-4D1E-A886-85FBB65D3A1B}" type="slidenum">
              <a:rPr lang="en-CA" smtClean="0"/>
              <a:pPr/>
              <a:t>24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9369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5B4A70F-9990-4097-8DB1-CCF62ED14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81" r="11840"/>
          <a:stretch/>
        </p:blipFill>
        <p:spPr>
          <a:xfrm rot="10800000">
            <a:off x="6039003" y="-7"/>
            <a:ext cx="3104997" cy="6858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A79FD9-D925-45D9-A7DA-662A6E696EA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463" y="737668"/>
            <a:ext cx="6053612" cy="3438682"/>
          </a:xfrm>
        </p:spPr>
        <p:txBody>
          <a:bodyPr anchor="ctr">
            <a:normAutofit/>
          </a:bodyPr>
          <a:lstStyle>
            <a:lvl1pPr algn="l">
              <a:lnSpc>
                <a:spcPct val="95000"/>
              </a:lnSpc>
              <a:defRPr sz="7200"/>
            </a:lvl1pPr>
          </a:lstStyle>
          <a:p>
            <a:r>
              <a:rPr lang="en-CA" noProof="0" dirty="0"/>
              <a:t>Title of </a:t>
            </a:r>
            <a:br>
              <a:rPr lang="en-CA" noProof="0" dirty="0"/>
            </a:br>
            <a:r>
              <a:rPr lang="en-CA" noProof="0" dirty="0"/>
              <a:t>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218ED-EAF3-4B2E-B594-07CC7613C3D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463" y="4789255"/>
            <a:ext cx="6053611" cy="407584"/>
          </a:xfrm>
        </p:spPr>
        <p:txBody>
          <a:bodyPr anchor="b"/>
          <a:lstStyle>
            <a:lvl1pPr marL="0" indent="0" algn="l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063" indent="0" algn="r">
              <a:buNone/>
              <a:defRPr sz="1200">
                <a:solidFill>
                  <a:schemeClr val="tx1"/>
                </a:solidFill>
              </a:defRPr>
            </a:lvl2pPr>
            <a:lvl3pPr marL="914126" indent="0" algn="r">
              <a:buNone/>
              <a:defRPr sz="1200">
                <a:solidFill>
                  <a:schemeClr val="tx1"/>
                </a:solidFill>
              </a:defRPr>
            </a:lvl3pPr>
            <a:lvl4pPr marL="1371189" indent="0" algn="r">
              <a:buNone/>
              <a:defRPr sz="1200">
                <a:solidFill>
                  <a:schemeClr val="tx1"/>
                </a:solidFill>
              </a:defRPr>
            </a:lvl4pPr>
            <a:lvl5pPr marL="1828251" indent="0" algn="r">
              <a:buNone/>
              <a:defRPr sz="1200">
                <a:solidFill>
                  <a:schemeClr val="tx1"/>
                </a:solidFill>
              </a:defRPr>
            </a:lvl5pPr>
            <a:lvl6pPr marL="2285314" indent="0" algn="r">
              <a:buNone/>
              <a:defRPr sz="1200">
                <a:solidFill>
                  <a:schemeClr val="tx1"/>
                </a:solidFill>
              </a:defRPr>
            </a:lvl6pPr>
            <a:lvl7pPr marL="2742377" indent="0" algn="r">
              <a:buNone/>
              <a:defRPr sz="1200">
                <a:solidFill>
                  <a:schemeClr val="tx1"/>
                </a:solidFill>
              </a:defRPr>
            </a:lvl7pPr>
            <a:lvl8pPr marL="3199440" indent="0" algn="r">
              <a:buNone/>
              <a:defRPr sz="1200">
                <a:solidFill>
                  <a:schemeClr val="tx1"/>
                </a:solidFill>
              </a:defRPr>
            </a:lvl8pPr>
            <a:lvl9pPr marL="3656503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 dirty="0"/>
              <a:t>Presenter Full Name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E835-F42F-4EB7-9CF0-61AE2C509E9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398465" y="5459994"/>
            <a:ext cx="6053610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fld id="{ED3FA57E-F3C9-4422-B7DF-F56B8E1A49EB}" type="datetime4">
              <a:rPr lang="en-CA" noProof="0" smtClean="0"/>
              <a:t>May 19, 2026</a:t>
            </a:fld>
            <a:endParaRPr lang="en-CA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A3F65-764D-4A7E-A10B-5BE344887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799" y="7010401"/>
            <a:ext cx="8462696" cy="45719"/>
          </a:xfrm>
        </p:spPr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67EB5-B07A-46BB-AD80-255361B7A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8807965" y="7010398"/>
            <a:ext cx="336035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63CCAC63-48FA-4D87-8511-FFBEA58AD00F}" type="slidenum">
              <a:rPr lang="en-CA" smtClean="0"/>
              <a:pPr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54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8347076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8463" y="1434190"/>
            <a:ext cx="8347076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00AC8BC0-4B7F-45B2-9F9D-C2C3E01E876C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934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5B9365-D846-4E2A-8103-10734CAB52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581" r="11840"/>
          <a:stretch/>
        </p:blipFill>
        <p:spPr>
          <a:xfrm rot="10800000">
            <a:off x="6039003" y="-7"/>
            <a:ext cx="3104997" cy="685800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98463" y="554780"/>
            <a:ext cx="6053611" cy="3036178"/>
          </a:xfrm>
        </p:spPr>
        <p:txBody>
          <a:bodyPr anchor="b">
            <a:normAutofit/>
          </a:bodyPr>
          <a:lstStyle>
            <a:lvl1pPr>
              <a:lnSpc>
                <a:spcPct val="95000"/>
              </a:lnSpc>
              <a:defRPr sz="7200" b="1" baseline="0">
                <a:solidFill>
                  <a:schemeClr val="tx1"/>
                </a:solidFill>
              </a:defRPr>
            </a:lvl1pPr>
          </a:lstStyle>
          <a:p>
            <a:r>
              <a:rPr lang="en-CA" noProof="0" dirty="0"/>
              <a:t>Title of </a:t>
            </a:r>
            <a:br>
              <a:rPr lang="en-CA" noProof="0" dirty="0"/>
            </a:br>
            <a:r>
              <a:rPr lang="en-CA" noProof="0" dirty="0"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8463" y="4789255"/>
            <a:ext cx="6053612" cy="407584"/>
          </a:xfrm>
        </p:spPr>
        <p:txBody>
          <a:bodyPr anchor="b">
            <a:noAutofit/>
          </a:bodyPr>
          <a:lstStyle>
            <a:lvl1pPr marL="0" indent="0" algn="l">
              <a:lnSpc>
                <a:spcPct val="95000"/>
              </a:lnSpc>
              <a:spcBef>
                <a:spcPts val="0"/>
              </a:spcBef>
              <a:buNone/>
              <a:defRPr sz="1400" b="0" baseline="0">
                <a:solidFill>
                  <a:schemeClr val="tx1"/>
                </a:solidFill>
              </a:defRPr>
            </a:lvl1pPr>
            <a:lvl2pPr marL="0" indent="0" algn="r">
              <a:spcBef>
                <a:spcPts val="3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 algn="r">
              <a:buNone/>
              <a:defRPr sz="1200">
                <a:solidFill>
                  <a:schemeClr val="tx1"/>
                </a:solidFill>
              </a:defRPr>
            </a:lvl3pPr>
            <a:lvl4pPr marL="1371600" indent="0" algn="r">
              <a:buNone/>
              <a:defRPr sz="1200">
                <a:solidFill>
                  <a:schemeClr val="tx1"/>
                </a:solidFill>
              </a:defRPr>
            </a:lvl4pPr>
            <a:lvl5pPr marL="1828800" indent="0" algn="r">
              <a:buNone/>
              <a:defRPr sz="1200">
                <a:solidFill>
                  <a:schemeClr val="tx1"/>
                </a:solidFill>
              </a:defRPr>
            </a:lvl5pPr>
            <a:lvl6pPr marL="2286000" indent="0" algn="r">
              <a:buNone/>
              <a:defRPr sz="1200">
                <a:solidFill>
                  <a:schemeClr val="tx1"/>
                </a:solidFill>
              </a:defRPr>
            </a:lvl6pPr>
            <a:lvl7pPr marL="2743200" indent="0" algn="r">
              <a:buNone/>
              <a:defRPr sz="1200">
                <a:solidFill>
                  <a:schemeClr val="tx1"/>
                </a:solidFill>
              </a:defRPr>
            </a:lvl7pPr>
            <a:lvl8pPr marL="3200400" indent="0" algn="r">
              <a:buNone/>
              <a:defRPr sz="1200">
                <a:solidFill>
                  <a:schemeClr val="tx1"/>
                </a:solidFill>
              </a:defRPr>
            </a:lvl8pPr>
            <a:lvl9pPr marL="3657600" indent="0" algn="r">
              <a:buNone/>
              <a:defRPr sz="1200">
                <a:solidFill>
                  <a:schemeClr val="tx1"/>
                </a:solidFill>
              </a:defRPr>
            </a:lvl9pPr>
          </a:lstStyle>
          <a:p>
            <a:r>
              <a:rPr lang="en-CA" noProof="0"/>
              <a:t>Presenter Full Name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 bwMode="black">
          <a:xfrm>
            <a:off x="398463" y="5459994"/>
            <a:ext cx="6053611" cy="267194"/>
          </a:xfrm>
        </p:spPr>
        <p:txBody>
          <a:bodyPr anchor="t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EE08E108-527B-4B52-98A7-35210C16A695}" type="datetime4">
              <a:rPr lang="en-CA" noProof="0" smtClean="0"/>
              <a:t>May 19, 2026</a:t>
            </a:fld>
            <a:endParaRPr lang="en-CA" noProof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>
          <a:xfrm>
            <a:off x="341799" y="7010401"/>
            <a:ext cx="8462696" cy="45719"/>
          </a:xfrm>
        </p:spPr>
        <p:txBody>
          <a:bodyPr/>
          <a:lstStyle/>
          <a:p>
            <a:endParaRPr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 bwMode="white">
          <a:xfrm>
            <a:off x="8807965" y="7010398"/>
            <a:ext cx="336035" cy="45720"/>
          </a:xfrm>
        </p:spPr>
        <p:txBody>
          <a:bodyPr/>
          <a:lstStyle>
            <a:lvl1pPr>
              <a:defRPr sz="100">
                <a:solidFill>
                  <a:srgbClr val="E6E6E6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3051F6-97A8-498B-82C1-AD3B8021949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463" y="3773691"/>
            <a:ext cx="6053612" cy="749823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14984" indent="0">
              <a:buNone/>
              <a:defRPr>
                <a:solidFill>
                  <a:schemeClr val="bg1"/>
                </a:solidFill>
              </a:defRPr>
            </a:lvl4pPr>
            <a:lvl5pPr marL="138074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CA" noProof="0" dirty="0"/>
              <a:t>Subtitle of presentation goes here</a:t>
            </a:r>
          </a:p>
        </p:txBody>
      </p:sp>
    </p:spTree>
    <p:extLst>
      <p:ext uri="{BB962C8B-B14F-4D97-AF65-F5344CB8AC3E}">
        <p14:creationId xmlns:p14="http://schemas.microsoft.com/office/powerpoint/2010/main" val="1954197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8347076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8463" y="1434190"/>
            <a:ext cx="8347076" cy="4584842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A2E7EEF7-2239-440B-8A6E-F3B93774E491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E9F8E0-BCC7-4049-9B66-CBD41765F7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76885" y="6168124"/>
            <a:ext cx="6476093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 dirty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793384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374D89-5166-4AF5-8567-B47BB135CC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7116227" y="0"/>
            <a:ext cx="20277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4932F7-6B32-4C34-AD3E-BF597CA112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6762156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 dirty="0"/>
              <a:t>Agenda slide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94783F-45F3-432B-A08E-B5187165F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79580-1DE4-4AED-B4F0-F01E2D77314B}" type="datetime4">
              <a:rPr lang="en-CA" smtClean="0"/>
              <a:t>May 19,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4AD97-4B30-4713-8D26-04AAD8A6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51261F-A43F-4893-A9BE-991C000E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397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 lang="en-CA" smtClean="0"/>
              <a:pPr/>
              <a:t>‹#›</a:t>
            </a:fld>
            <a:endParaRPr lang="en-C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5B93E3-EEA6-456D-B67D-D16BEF5255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463" y="1434190"/>
            <a:ext cx="3178345" cy="4575436"/>
          </a:xfrm>
        </p:spPr>
        <p:txBody>
          <a:bodyPr/>
          <a:lstStyle>
            <a:lvl1pPr>
              <a:buSzPct val="115000"/>
              <a:defRPr/>
            </a:lvl1pPr>
            <a:lvl2pPr>
              <a:buSzPct val="115000"/>
              <a:defRPr/>
            </a:lvl2pPr>
            <a:lvl3pPr>
              <a:buSzPct val="115000"/>
              <a:defRPr/>
            </a:lvl3pPr>
            <a:lvl4pPr>
              <a:buSzPct val="115000"/>
              <a:defRPr/>
            </a:lvl4pPr>
            <a:lvl5pPr marL="1609344" indent="-228600">
              <a:buSzPct val="115000"/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buSzPct val="115000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>
              <a:buSzPct val="115000"/>
              <a:defRPr/>
            </a:lvl8pPr>
            <a:lvl9pPr>
              <a:buSzPct val="115000"/>
              <a:defRPr/>
            </a:lvl9pPr>
          </a:lstStyle>
          <a:p>
            <a:pPr lvl="0"/>
            <a:r>
              <a:rPr lang="en-CA" noProof="0" dirty="0"/>
              <a:t>Section headline or item 1</a:t>
            </a:r>
          </a:p>
          <a:p>
            <a:pPr lvl="1"/>
            <a:r>
              <a:rPr lang="en-CA" noProof="0" dirty="0"/>
              <a:t>Item 2</a:t>
            </a:r>
          </a:p>
          <a:p>
            <a:pPr lvl="2"/>
            <a:r>
              <a:rPr lang="en-CA" noProof="0" dirty="0"/>
              <a:t>Item 3</a:t>
            </a:r>
          </a:p>
          <a:p>
            <a:pPr lvl="3"/>
            <a:r>
              <a:rPr lang="en-CA" noProof="0" dirty="0"/>
              <a:t>Item 4</a:t>
            </a:r>
          </a:p>
          <a:p>
            <a:pPr lvl="4"/>
            <a:r>
              <a:rPr lang="en-CA" noProof="0" dirty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 dirty="0"/>
              <a:t>Item 6</a:t>
            </a:r>
          </a:p>
          <a:p>
            <a:pPr lvl="6"/>
            <a:r>
              <a:rPr lang="en-CA" noProof="0" dirty="0"/>
              <a:t>Item 7</a:t>
            </a:r>
          </a:p>
          <a:p>
            <a:pPr lvl="7"/>
            <a:r>
              <a:rPr lang="en-CA" noProof="0" dirty="0"/>
              <a:t>Item 8</a:t>
            </a:r>
          </a:p>
          <a:p>
            <a:pPr lvl="8"/>
            <a:r>
              <a:rPr lang="en-CA" noProof="0" dirty="0"/>
              <a:t>Item 9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507130D-B493-4337-BB0F-5DB874909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2276" y="1434189"/>
            <a:ext cx="3178344" cy="458484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 marL="1609344" indent="-228600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98613" indent="-228600">
              <a:buFont typeface="Arial" panose="020B0604020202020204" pitchFamily="34" charset="0"/>
              <a:buChar char="•"/>
              <a:defRPr sz="1400"/>
            </a:lvl6pPr>
            <a:lvl7pPr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</a:lstStyle>
          <a:p>
            <a:pPr lvl="0"/>
            <a:r>
              <a:rPr lang="en-CA" noProof="0" dirty="0"/>
              <a:t>Section headline or item 1</a:t>
            </a:r>
          </a:p>
          <a:p>
            <a:pPr lvl="1"/>
            <a:r>
              <a:rPr lang="en-CA" noProof="0" dirty="0"/>
              <a:t>Item 2</a:t>
            </a:r>
          </a:p>
          <a:p>
            <a:pPr lvl="2"/>
            <a:r>
              <a:rPr lang="en-CA" noProof="0" dirty="0"/>
              <a:t>Item 3</a:t>
            </a:r>
          </a:p>
          <a:p>
            <a:pPr lvl="3"/>
            <a:r>
              <a:rPr lang="en-CA" noProof="0" dirty="0"/>
              <a:t>Item 4</a:t>
            </a:r>
          </a:p>
          <a:p>
            <a:pPr lvl="4"/>
            <a:r>
              <a:rPr lang="en-CA" noProof="0" dirty="0"/>
              <a:t>Item 5</a:t>
            </a:r>
          </a:p>
          <a:p>
            <a:pPr marL="1609344" lvl="6" indent="-2286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115000"/>
              <a:buFont typeface="Arial" panose="020B0604020202020204" pitchFamily="34" charset="0"/>
              <a:buChar char="•"/>
            </a:pPr>
            <a:r>
              <a:rPr lang="en-CA" noProof="0" dirty="0"/>
              <a:t>Item 6</a:t>
            </a:r>
          </a:p>
          <a:p>
            <a:pPr lvl="6"/>
            <a:r>
              <a:rPr lang="en-CA" noProof="0" dirty="0"/>
              <a:t>Item 7</a:t>
            </a:r>
          </a:p>
          <a:p>
            <a:pPr lvl="7"/>
            <a:r>
              <a:rPr lang="en-CA" noProof="0" dirty="0"/>
              <a:t>Item 8</a:t>
            </a:r>
          </a:p>
          <a:p>
            <a:pPr lvl="8"/>
            <a:r>
              <a:rPr lang="en-CA" noProof="0" dirty="0"/>
              <a:t>Item 9</a:t>
            </a:r>
          </a:p>
        </p:txBody>
      </p:sp>
    </p:spTree>
    <p:extLst>
      <p:ext uri="{BB962C8B-B14F-4D97-AF65-F5344CB8AC3E}">
        <p14:creationId xmlns:p14="http://schemas.microsoft.com/office/powerpoint/2010/main" val="96526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4" y="472438"/>
            <a:ext cx="8356240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8464" y="1454966"/>
            <a:ext cx="8356240" cy="4564066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516914B5-AEA6-47C1-80F7-C7FD18A22EA2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9DA36B3-22EA-47CB-9DCD-C1A0BC2D23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76885" y="6168123"/>
            <a:ext cx="6476093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</p:spTree>
    <p:extLst>
      <p:ext uri="{BB962C8B-B14F-4D97-AF65-F5344CB8AC3E}">
        <p14:creationId xmlns:p14="http://schemas.microsoft.com/office/powerpoint/2010/main" val="2817312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/Char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8347076" cy="792167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CA" noProof="0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8463" y="1829560"/>
            <a:ext cx="8347076" cy="4184896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CA" noProof="0"/>
              <a:t>Click icon to add table or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977C927B-EA5B-4D38-B63B-A75272FB7D5F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9DA36B3-22EA-47CB-9DCD-C1A0BC2D23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76885" y="6168123"/>
            <a:ext cx="6476093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0F0699-528E-4D23-AAD0-9014222C8A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462" y="1418190"/>
            <a:ext cx="8347076" cy="231242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1400" b="0" baseline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1600" b="1"/>
            </a:lvl2pPr>
            <a:lvl3pPr marL="0" indent="0">
              <a:spcBef>
                <a:spcPts val="0"/>
              </a:spcBef>
              <a:buNone/>
              <a:defRPr sz="1600" b="1"/>
            </a:lvl3pPr>
            <a:lvl4pPr marL="0" indent="0">
              <a:spcBef>
                <a:spcPts val="0"/>
              </a:spcBef>
              <a:buNone/>
              <a:defRPr sz="1600" b="1"/>
            </a:lvl4pPr>
            <a:lvl5pPr marL="0" indent="0">
              <a:spcBef>
                <a:spcPts val="0"/>
              </a:spcBef>
              <a:buNone/>
              <a:defRPr sz="1600" b="1"/>
            </a:lvl5pPr>
            <a:lvl6pPr marL="0" indent="0">
              <a:spcBef>
                <a:spcPts val="0"/>
              </a:spcBef>
              <a:buNone/>
              <a:defRPr sz="1600" b="1"/>
            </a:lvl6pPr>
            <a:lvl7pPr marL="0" indent="0">
              <a:spcBef>
                <a:spcPts val="0"/>
              </a:spcBef>
              <a:buNone/>
              <a:defRPr sz="1600" b="1"/>
            </a:lvl7pPr>
            <a:lvl8pPr marL="0" indent="0">
              <a:spcBef>
                <a:spcPts val="0"/>
              </a:spcBef>
              <a:buNone/>
              <a:defRPr sz="1600" b="1"/>
            </a:lvl8pPr>
            <a:lvl9pPr marL="0" indent="0">
              <a:spcBef>
                <a:spcPts val="0"/>
              </a:spcBef>
              <a:buNone/>
              <a:defRPr sz="1600" b="1"/>
            </a:lvl9pPr>
          </a:lstStyle>
          <a:p>
            <a:pPr lvl="0"/>
            <a:r>
              <a:rPr lang="en-CA" noProof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7387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00571" y="780239"/>
            <a:ext cx="8356356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4D86A9-B95A-42FA-8B03-2725FDB90EC5}" type="datetime4">
              <a:rPr lang="en-CA" smtClean="0"/>
              <a:t>May 19,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94228C9-4569-4FCC-97DA-F93FA65CFA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81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00571" y="780239"/>
            <a:ext cx="8356356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  <a:t>May 19,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CFC838A-8C40-4185-8AEF-0C6AEE308E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4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98463" y="780239"/>
            <a:ext cx="8360572" cy="4771958"/>
          </a:xfrm>
        </p:spPr>
        <p:txBody>
          <a:bodyPr anchor="ctr">
            <a:norm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CA" noProof="0" dirty="0"/>
              <a:t>Chapter slide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1C1510D-34D1-4B3A-9459-3FC94A26D1AA}" type="datetime4">
              <a:rPr lang="en-CA" smtClean="0"/>
              <a:t>May 19,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752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8347076" cy="792167"/>
          </a:xfrm>
        </p:spPr>
        <p:txBody>
          <a:bodyPr/>
          <a:lstStyle/>
          <a:p>
            <a:r>
              <a:rPr lang="en-CA" noProof="0" dirty="0"/>
              <a:t>Slide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F1619-AA93-4060-BD60-C576B19528E8}" type="datetime4">
              <a:rPr lang="en-CA" smtClean="0"/>
              <a:t>May 19, 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344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4" y="472438"/>
            <a:ext cx="8356240" cy="792167"/>
          </a:xfrm>
        </p:spPr>
        <p:txBody>
          <a:bodyPr/>
          <a:lstStyle/>
          <a:p>
            <a:r>
              <a:rPr lang="en-CA" noProof="0" dirty="0"/>
              <a:t>Slide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94599-B0CF-427C-90FA-8448CA06BC9E}" type="datetime4">
              <a:rPr lang="en-CA" smtClean="0"/>
              <a:t>May 19, 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CA64D4B-F13B-4926-B9D7-FE08922425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76885" y="6168123"/>
            <a:ext cx="6476093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</p:spTree>
    <p:extLst>
      <p:ext uri="{BB962C8B-B14F-4D97-AF65-F5344CB8AC3E}">
        <p14:creationId xmlns:p14="http://schemas.microsoft.com/office/powerpoint/2010/main" val="429415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398464" y="472438"/>
            <a:ext cx="8356240" cy="792167"/>
          </a:xfrm>
        </p:spPr>
        <p:txBody>
          <a:bodyPr/>
          <a:lstStyle/>
          <a:p>
            <a:r>
              <a:rPr lang="en-CA" noProof="0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98464" y="1434588"/>
            <a:ext cx="4049680" cy="4576536"/>
          </a:xfrm>
        </p:spPr>
        <p:txBody>
          <a:bodyPr>
            <a:noAutofit/>
          </a:bodyPr>
          <a:lstStyle>
            <a:lvl1pPr>
              <a:defRPr sz="2000" baseline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 dirty="0"/>
              <a:t>Click to add main bullet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08048" y="1434191"/>
            <a:ext cx="4046656" cy="4580885"/>
          </a:xfrm>
        </p:spPr>
        <p:txBody>
          <a:bodyPr>
            <a:noAutofit/>
          </a:bodyPr>
          <a:lstStyle>
            <a:lvl1pPr>
              <a:defRPr sz="2000" baseline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 dirty="0"/>
              <a:t>Click to add main bullet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EE892-DA9C-470A-9EFD-1F1333ED0846}" type="datetime4">
              <a:rPr lang="en-CA" smtClean="0"/>
              <a:t>May 19, 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93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72438"/>
            <a:ext cx="8347076" cy="792167"/>
          </a:xfrm>
        </p:spPr>
        <p:txBody>
          <a:bodyPr/>
          <a:lstStyle>
            <a:lvl1pPr>
              <a:defRPr/>
            </a:lvl1pPr>
          </a:lstStyle>
          <a:p>
            <a:r>
              <a:rPr lang="en-CA" noProof="0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98463" y="1435608"/>
            <a:ext cx="4050792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 dirty="0"/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98463" y="2126107"/>
            <a:ext cx="4050792" cy="388620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95952" y="1435608"/>
            <a:ext cx="4049587" cy="639762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noProof="0" dirty="0"/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95952" y="2126107"/>
            <a:ext cx="4049587" cy="388620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600">
                <a:latin typeface="+mn-lt"/>
              </a:defRPr>
            </a:lvl3pPr>
            <a:lvl4pPr>
              <a:defRPr sz="1400">
                <a:latin typeface="+mn-lt"/>
              </a:defRPr>
            </a:lvl4pPr>
            <a:lvl5pPr>
              <a:defRPr sz="1400">
                <a:latin typeface="+mn-lt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CA" noProof="0" dirty="0"/>
              <a:t>Click to add main bullet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  <a:p>
            <a:pPr lvl="4"/>
            <a:r>
              <a:rPr lang="en-CA" noProof="0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CB11-CC29-45DE-86FE-3B5E9B18E485}" type="datetime4">
              <a:rPr lang="en-CA" smtClean="0"/>
              <a:t>May 19, 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494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-1" y="36"/>
            <a:ext cx="3042303" cy="68579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8463" y="463844"/>
            <a:ext cx="2469787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Title </a:t>
            </a:r>
            <a:br>
              <a:rPr lang="en-CA" noProof="0" dirty="0"/>
            </a:br>
            <a:r>
              <a:rPr lang="en-CA" noProof="0" dirty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FF132DD1-ED70-4BDF-9A73-CA79C3A1B7D9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902" y="6170281"/>
            <a:ext cx="5082076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27F605F-E867-4D71-BB90-E39D62320F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996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olumn with sour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-1" y="36"/>
            <a:ext cx="3042303" cy="6857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572" y="463844"/>
            <a:ext cx="2467680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Title </a:t>
            </a:r>
            <a:br>
              <a:rPr lang="en-CA" noProof="0" dirty="0"/>
            </a:br>
            <a:r>
              <a:rPr lang="en-CA" noProof="0" dirty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2225BEF7-362C-47A2-99CE-F92BC52601A4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901" y="6170281"/>
            <a:ext cx="5082077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6C1CC4-AB93-4BB8-98D4-1BB132A10A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0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-1" y="36"/>
            <a:ext cx="3042303" cy="68579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AF97CD5-66AE-4EDA-8D23-A23D9D49A5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0901" y="475488"/>
            <a:ext cx="5474189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 dirty="0"/>
              <a:t>Title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572" y="463844"/>
            <a:ext cx="2467680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Title </a:t>
            </a:r>
            <a:br>
              <a:rPr lang="en-CA" noProof="0" dirty="0"/>
            </a:br>
            <a:r>
              <a:rPr lang="en-CA" noProof="0" dirty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FF132DD1-ED70-4BDF-9A73-CA79C3A1B7D9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901" y="6170281"/>
            <a:ext cx="5082077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38F0D64-3A18-458E-9DB0-82116D7EB0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70900" y="1434190"/>
            <a:ext cx="5472527" cy="458484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0B8E576-1AE9-46CA-9CC6-4DD3757376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with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941A91C-8450-4F8B-8FBF-3E634ED3081E}"/>
              </a:ext>
            </a:extLst>
          </p:cNvPr>
          <p:cNvSpPr/>
          <p:nvPr userDrawn="1"/>
        </p:nvSpPr>
        <p:spPr bwMode="hidden">
          <a:xfrm>
            <a:off x="-1" y="36"/>
            <a:ext cx="3042303" cy="68579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AF97CD5-66AE-4EDA-8D23-A23D9D49A5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0901" y="475488"/>
            <a:ext cx="1904958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 dirty="0"/>
              <a:t>Title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572" y="463844"/>
            <a:ext cx="2467680" cy="3401475"/>
          </a:xfrm>
        </p:spPr>
        <p:txBody>
          <a:bodyPr anchor="t">
            <a:noAutofit/>
          </a:bodyPr>
          <a:lstStyle>
            <a:lvl1pPr>
              <a:lnSpc>
                <a:spcPct val="95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CA" noProof="0" dirty="0"/>
              <a:t>Title </a:t>
            </a:r>
            <a:br>
              <a:rPr lang="en-CA" noProof="0" dirty="0"/>
            </a:br>
            <a:r>
              <a:rPr lang="en-CA" noProof="0" dirty="0"/>
              <a:t>of slide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7965" y="7010398"/>
            <a:ext cx="336035" cy="45720"/>
          </a:xfrm>
        </p:spPr>
        <p:txBody>
          <a:bodyPr/>
          <a:lstStyle/>
          <a:p>
            <a:fld id="{2225BEF7-362C-47A2-99CE-F92BC52601A4}" type="datetime4">
              <a:rPr lang="en-CA" smtClean="0"/>
              <a:t>May 19, 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A51932F0-EBB7-48D2-9591-40F3F9E757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76424" y="475488"/>
            <a:ext cx="3166686" cy="792162"/>
          </a:xfrm>
        </p:spPr>
        <p:txBody>
          <a:bodyPr anchor="t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 b="0">
                <a:latin typeface="+mj-lt"/>
              </a:defRPr>
            </a:lvl1pPr>
            <a:lvl2pPr marL="338328" indent="0">
              <a:buNone/>
              <a:defRPr/>
            </a:lvl2pPr>
            <a:lvl3pPr marL="685800" indent="0">
              <a:buNone/>
              <a:defRPr/>
            </a:lvl3pPr>
            <a:lvl4pPr marL="1014984" indent="0">
              <a:buNone/>
              <a:defRPr/>
            </a:lvl4pPr>
            <a:lvl5pPr marL="1380744" indent="0">
              <a:buNone/>
              <a:defRPr/>
            </a:lvl5pPr>
          </a:lstStyle>
          <a:p>
            <a:pPr lvl="0"/>
            <a:r>
              <a:rPr lang="en-CA" noProof="0" dirty="0"/>
              <a:t>Optional title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6484C2BD-24ED-45A0-81D7-5E2A0324D7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0901" y="6170281"/>
            <a:ext cx="5082077" cy="402451"/>
          </a:xfrm>
        </p:spPr>
        <p:txBody>
          <a:bodyPr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20B06040202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5pPr>
            <a:lvl6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6pPr>
            <a:lvl7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7pPr>
            <a:lvl8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8pPr>
            <a:lvl9pPr marL="0" indent="0">
              <a:lnSpc>
                <a:spcPct val="95000"/>
              </a:lnSpc>
              <a:spcBef>
                <a:spcPts val="0"/>
              </a:spcBef>
              <a:buNone/>
              <a:defRPr sz="800">
                <a:latin typeface="Arial" panose="00000400000000000000" pitchFamily="2" charset="0"/>
              </a:defRPr>
            </a:lvl9pPr>
          </a:lstStyle>
          <a:p>
            <a:pPr lvl="0"/>
            <a:r>
              <a:rPr lang="en-CA" sz="800" noProof="0">
                <a:latin typeface="Arial" panose="020B0303040401060103" pitchFamily="34" charset="0"/>
                <a:cs typeface="Arial" panose="020B0604020202020204" pitchFamily="34" charset="0"/>
              </a:rPr>
              <a:t>Source text should be Arial, size 8.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456917-5A0D-4B01-9F9A-CC25458866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0901" y="1435609"/>
            <a:ext cx="1904958" cy="458342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spcBef>
                <a:spcPts val="600"/>
              </a:spcBef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  <a:lvl6pPr>
              <a:spcBef>
                <a:spcPts val="600"/>
              </a:spcBef>
              <a:defRPr sz="1400"/>
            </a:lvl6pPr>
            <a:lvl7pPr>
              <a:spcBef>
                <a:spcPts val="600"/>
              </a:spcBef>
              <a:defRPr sz="1400"/>
            </a:lvl7pPr>
            <a:lvl8pPr>
              <a:spcBef>
                <a:spcPts val="600"/>
              </a:spcBef>
              <a:defRPr sz="1400"/>
            </a:lvl8pPr>
            <a:lvl9pPr>
              <a:spcBef>
                <a:spcPts val="600"/>
              </a:spcBef>
              <a:defRPr sz="1400"/>
            </a:lvl9pPr>
          </a:lstStyle>
          <a:p>
            <a:pPr lvl="0"/>
            <a:r>
              <a:rPr lang="en-CA" noProof="0" dirty="0"/>
              <a:t>Click to add body copy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0063603-5807-4630-8EB7-C1EBC7302DA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76432" y="1435609"/>
            <a:ext cx="3166996" cy="4583424"/>
          </a:xfrm>
        </p:spPr>
        <p:txBody>
          <a:bodyPr/>
          <a:lstStyle>
            <a:lvl1pPr>
              <a:spcBef>
                <a:spcPts val="600"/>
              </a:spcBef>
              <a:defRPr sz="1400"/>
            </a:lvl1pPr>
            <a:lvl2pPr>
              <a:spcBef>
                <a:spcPts val="600"/>
              </a:spcBef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  <a:lvl6pPr>
              <a:spcBef>
                <a:spcPts val="600"/>
              </a:spcBef>
              <a:defRPr sz="1400"/>
            </a:lvl6pPr>
            <a:lvl7pPr>
              <a:spcBef>
                <a:spcPts val="600"/>
              </a:spcBef>
              <a:defRPr sz="1400"/>
            </a:lvl7pPr>
            <a:lvl8pPr>
              <a:spcBef>
                <a:spcPts val="600"/>
              </a:spcBef>
              <a:defRPr sz="1400"/>
            </a:lvl8pPr>
            <a:lvl9pPr>
              <a:spcBef>
                <a:spcPts val="600"/>
              </a:spcBef>
              <a:defRPr sz="1400"/>
            </a:lvl9pPr>
          </a:lstStyle>
          <a:p>
            <a:pPr lvl="0"/>
            <a:r>
              <a:rPr lang="en-CA" noProof="0" dirty="0"/>
              <a:t>Add body copy or click icon for other content options</a:t>
            </a:r>
          </a:p>
          <a:p>
            <a:pPr lvl="1"/>
            <a:r>
              <a:rPr lang="en-CA" noProof="0" dirty="0"/>
              <a:t>Second level</a:t>
            </a:r>
          </a:p>
          <a:p>
            <a:pPr lvl="2"/>
            <a:r>
              <a:rPr lang="en-CA" noProof="0" dirty="0"/>
              <a:t>Third level</a:t>
            </a:r>
          </a:p>
          <a:p>
            <a:pPr lvl="3"/>
            <a:r>
              <a:rPr lang="en-CA" noProof="0" dirty="0"/>
              <a:t>Fourth level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3FBD74-E1C3-4BCA-8428-760E7C2886B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8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6896-6C98-4CA5-8352-966F1C5B8B94}" type="datetime4">
              <a:rPr lang="en-CA" smtClean="0"/>
              <a:t>May 19, 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876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C3B442-1249-4FC3-83EE-3BA61C9623C1}" type="datetime4">
              <a:rPr lang="en-CA" smtClean="0"/>
              <a:t>May 19,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5EC368A-04E2-4666-BEA0-F3B4190559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2213264" y="2514600"/>
            <a:ext cx="4717472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7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911C52-8BD4-4F0D-866B-C996C90A70C0}"/>
              </a:ext>
            </a:extLst>
          </p:cNvPr>
          <p:cNvSpPr/>
          <p:nvPr userDrawn="1"/>
        </p:nvSpPr>
        <p:spPr>
          <a:xfrm>
            <a:off x="405925" y="1584823"/>
            <a:ext cx="8229600" cy="3874907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few recommendations: 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Sample slides are included to help you get started. You can edit these sample slides or insert new slides, however it is recommended you maintain a consistent title and finishing slide.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Maintain the integrity of the key template features: Ensure consistency in locations and space around the logo, leverage the Manulife JH colour palette and Arial font, and use the icons and images that have been provided for you.</a:t>
            </a: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20503040401060103" pitchFamily="18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have any questions or concerns, </a:t>
            </a:r>
            <a:b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CA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please email us at brand@manulife.com.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CA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92F06-F4FB-4621-9169-B57FD0A41EED}"/>
              </a:ext>
            </a:extLst>
          </p:cNvPr>
          <p:cNvSpPr/>
          <p:nvPr userDrawn="1"/>
        </p:nvSpPr>
        <p:spPr>
          <a:xfrm>
            <a:off x="388832" y="950979"/>
            <a:ext cx="8359312" cy="40011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Getting Started –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Official Manulife Template</a:t>
            </a:r>
            <a:endParaRPr lang="en-CA" sz="1600" dirty="0"/>
          </a:p>
        </p:txBody>
      </p: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61A4BEF5-9A05-4D20-83E5-233E87403DC0}" type="datetime4">
              <a:rPr lang="en-CA" smtClean="0"/>
              <a:t>May 19, 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3B09A-151F-464A-973F-FF30F816F5E8}"/>
              </a:ext>
            </a:extLst>
          </p:cNvPr>
          <p:cNvSpPr/>
          <p:nvPr userDrawn="1"/>
        </p:nvSpPr>
        <p:spPr>
          <a:xfrm>
            <a:off x="397379" y="359681"/>
            <a:ext cx="263052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1000" dirty="0">
                <a:latin typeface="+mn-lt"/>
              </a:rPr>
              <a:t>For use with Microsoft Office PowerPoint 365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E61A942-8142-4DF3-AE89-ACB4624EB4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93390" y="3594428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7C268D2-D1FD-480D-AE80-BAB1E4761F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766381" y="4583662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7F48D9E-1F04-448E-B2EA-FC3BDF87DE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57849" y="3861226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F3C74ACE-A087-4CCF-9F2B-C577871C2FA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193390" y="4851064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73E0EE3-6FDD-4D83-B697-63EDCCB0C31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07321" y="4124933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681684A-98E3-40D1-AF38-B655BDA12CC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660487" y="5104652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F67DF5B-5859-4C2F-88BF-6F24BAA6868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557331" y="4378396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29A2564-C590-47D7-B5AA-5C5A9E923CF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107321" y="5369893"/>
            <a:ext cx="1123200" cy="84240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8480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3F4D21-0D6E-4527-908B-3C7C5A29B1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809145" y="3722382"/>
            <a:ext cx="3059816" cy="164592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B1CEC1-EA8B-4F23-A004-9684BA19D5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3017" y="3722382"/>
            <a:ext cx="2726502" cy="1645920"/>
          </a:xfrm>
          <a:prstGeom prst="rect">
            <a:avLst/>
          </a:prstGeom>
          <a:ln w="3175">
            <a:solidFill>
              <a:schemeClr val="bg2">
                <a:lumMod val="60000"/>
                <a:lumOff val="40000"/>
              </a:schemeClr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9911C52-8BD4-4F0D-866B-C996C90A70C0}"/>
              </a:ext>
            </a:extLst>
          </p:cNvPr>
          <p:cNvSpPr/>
          <p:nvPr userDrawn="1"/>
        </p:nvSpPr>
        <p:spPr>
          <a:xfrm>
            <a:off x="307561" y="1576406"/>
            <a:ext cx="4065715" cy="1577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400" b="1" dirty="0"/>
              <a:t>To insert a new slide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the bottom of the New Slide button on the Home tab.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Choose a layout from the gallery.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content using </a:t>
            </a:r>
            <a:r>
              <a:rPr lang="en-US" sz="1400" dirty="0"/>
              <a:t>the default boxes provided.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E92F06-F4FB-4621-9169-B57FD0A41EED}"/>
              </a:ext>
            </a:extLst>
          </p:cNvPr>
          <p:cNvSpPr/>
          <p:nvPr userDrawn="1"/>
        </p:nvSpPr>
        <p:spPr>
          <a:xfrm>
            <a:off x="307562" y="950979"/>
            <a:ext cx="58366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To Insert or Change a Slide</a:t>
            </a:r>
            <a:endParaRPr lang="en-CA" sz="16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07C0D-E009-46A8-9602-4C9F4E3543F3}" type="datetime4">
              <a:rPr lang="en-CA" smtClean="0"/>
              <a:t>May 19, 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C17CB5-F2BE-4A24-9128-54B915A02C7D}"/>
              </a:ext>
            </a:extLst>
          </p:cNvPr>
          <p:cNvSpPr/>
          <p:nvPr userDrawn="1"/>
        </p:nvSpPr>
        <p:spPr>
          <a:xfrm>
            <a:off x="397379" y="359681"/>
            <a:ext cx="263052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1000" dirty="0">
                <a:latin typeface="+mn-lt"/>
              </a:rPr>
              <a:t>For use with Microsoft Office PowerPoint 365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13F073-27F8-44C6-86F2-1BFB52DCC02D}"/>
              </a:ext>
            </a:extLst>
          </p:cNvPr>
          <p:cNvSpPr/>
          <p:nvPr userDrawn="1"/>
        </p:nvSpPr>
        <p:spPr>
          <a:xfrm>
            <a:off x="4710896" y="1576406"/>
            <a:ext cx="4065720" cy="17312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400" b="1" dirty="0"/>
              <a:t>To change the layout of an existing slide 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lang="en-US" sz="1400" dirty="0"/>
              <a:t>Go </a:t>
            </a: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the slide you want to change.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Select Layout on the Home tab.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Choose a new layout from the gallery.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Add content </a:t>
            </a:r>
            <a:r>
              <a:rPr lang="en-US" sz="1400" dirty="0"/>
              <a:t>using the default boxes provided.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81C36F-DB11-4377-82A5-7916E869C5A2}"/>
              </a:ext>
            </a:extLst>
          </p:cNvPr>
          <p:cNvCxnSpPr>
            <a:cxnSpLocks/>
          </p:cNvCxnSpPr>
          <p:nvPr userDrawn="1"/>
        </p:nvCxnSpPr>
        <p:spPr>
          <a:xfrm>
            <a:off x="4572000" y="1655840"/>
            <a:ext cx="0" cy="3892832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4374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tting starte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414DEA0-13FF-4DE4-9D76-9E6417F4FE5D}"/>
              </a:ext>
            </a:extLst>
          </p:cNvPr>
          <p:cNvSpPr txBox="1">
            <a:spLocks/>
          </p:cNvSpPr>
          <p:nvPr userDrawn="1"/>
        </p:nvSpPr>
        <p:spPr>
          <a:xfrm>
            <a:off x="397379" y="5038127"/>
            <a:ext cx="5744339" cy="9969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7013" indent="-227013" algn="l" defTabSz="914400" rtl="0" eaLnBrk="1" latinLnBrk="0" hangingPunct="1">
              <a:lnSpc>
                <a:spcPct val="100000"/>
              </a:lnSpc>
              <a:spcBef>
                <a:spcPts val="24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22576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919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580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5000"/>
              </a:lnSpc>
              <a:spcBef>
                <a:spcPts val="1200"/>
              </a:spcBef>
              <a:buSzPct val="115000"/>
            </a:pPr>
            <a:r>
              <a:rPr lang="en-US" sz="1200" dirty="0"/>
              <a:t>Primary colours Green and Blue may be used interchangeably across the organization.</a:t>
            </a:r>
          </a:p>
          <a:p>
            <a:pPr>
              <a:lnSpc>
                <a:spcPct val="95000"/>
              </a:lnSpc>
              <a:spcBef>
                <a:spcPts val="1200"/>
              </a:spcBef>
              <a:buSzPct val="115000"/>
            </a:pPr>
            <a:r>
              <a:rPr lang="en-US" sz="1200" dirty="0"/>
              <a:t>Text colour: use black or white reverse text.</a:t>
            </a:r>
          </a:p>
          <a:p>
            <a:pPr>
              <a:lnSpc>
                <a:spcPct val="95000"/>
              </a:lnSpc>
              <a:spcBef>
                <a:spcPts val="1200"/>
              </a:spcBef>
              <a:buSzPct val="115000"/>
            </a:pPr>
            <a:r>
              <a:rPr lang="en-US" sz="1200" dirty="0"/>
              <a:t>Charts and graphics only: use any of the primary or secondary colours provided.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E1E742-A967-4A3E-9F77-DA40A8E46B45}"/>
              </a:ext>
            </a:extLst>
          </p:cNvPr>
          <p:cNvCxnSpPr>
            <a:cxnSpLocks/>
          </p:cNvCxnSpPr>
          <p:nvPr userDrawn="1"/>
        </p:nvCxnSpPr>
        <p:spPr>
          <a:xfrm>
            <a:off x="6477000" y="1622705"/>
            <a:ext cx="0" cy="4412336"/>
          </a:xfrm>
          <a:prstGeom prst="line">
            <a:avLst/>
          </a:prstGeom>
          <a:noFill/>
          <a:ln w="12700" cap="flat">
            <a:solidFill>
              <a:schemeClr val="tx1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9D3C-3137-4F15-BA72-B988755605E7}" type="datetime4">
              <a:rPr lang="en-CA" smtClean="0"/>
              <a:t>May 19, 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/>
              <a:t>‹#›</a:t>
            </a:fld>
            <a:endParaRPr/>
          </a:p>
        </p:txBody>
      </p:sp>
      <p:sp>
        <p:nvSpPr>
          <p:cNvPr id="27" name="Title 5">
            <a:extLst>
              <a:ext uri="{FF2B5EF4-FFF2-40B4-BE49-F238E27FC236}">
                <a16:creationId xmlns:a16="http://schemas.microsoft.com/office/drawing/2014/main" id="{AEA8B13C-3D00-4B76-989C-A1F6F0840923}"/>
              </a:ext>
            </a:extLst>
          </p:cNvPr>
          <p:cNvSpPr txBox="1">
            <a:spLocks/>
          </p:cNvSpPr>
          <p:nvPr userDrawn="1"/>
        </p:nvSpPr>
        <p:spPr>
          <a:xfrm>
            <a:off x="397380" y="1032065"/>
            <a:ext cx="3891038" cy="49314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/>
              <a:t>Colours &amp; Images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F1EF2E9-1005-4071-B482-10D7F95E3EF3}"/>
              </a:ext>
            </a:extLst>
          </p:cNvPr>
          <p:cNvSpPr txBox="1">
            <a:spLocks/>
          </p:cNvSpPr>
          <p:nvPr userDrawn="1"/>
        </p:nvSpPr>
        <p:spPr>
          <a:xfrm>
            <a:off x="6755137" y="1622705"/>
            <a:ext cx="2023481" cy="49273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7013" indent="-227013" algn="l" defTabSz="914400" rtl="0" eaLnBrk="1" latinLnBrk="0" hangingPunct="1">
              <a:lnSpc>
                <a:spcPct val="100000"/>
              </a:lnSpc>
              <a:spcBef>
                <a:spcPts val="24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6072" indent="-23774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2728" indent="-237744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9344" indent="-2286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>
                <a:schemeClr val="tx1"/>
              </a:buClr>
              <a:buSzPct val="13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22576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79192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35808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1"/>
              </a:buClr>
              <a:buSzPct val="115000"/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en-US" sz="1400" b="1" dirty="0"/>
              <a:t>Embedded Colour Palette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Branded colours are embedded in the template for your immediate use.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endParaRPr kumimoji="0" lang="en-US" sz="1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00" b="1" dirty="0"/>
          </a:p>
          <a:p>
            <a:pPr marL="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400" b="1" dirty="0"/>
              <a:t>Images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add your own copyright free photos</a:t>
            </a:r>
            <a:b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customize your content slides.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8F2055-4983-4560-A35F-C2AD8B91C608}"/>
              </a:ext>
            </a:extLst>
          </p:cNvPr>
          <p:cNvSpPr/>
          <p:nvPr userDrawn="1"/>
        </p:nvSpPr>
        <p:spPr>
          <a:xfrm>
            <a:off x="397379" y="359681"/>
            <a:ext cx="2630528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r>
              <a:rPr lang="en-US" sz="1000" dirty="0">
                <a:latin typeface="+mn-lt"/>
              </a:rPr>
              <a:t>For use with Microsoft Office PowerPoint 365</a:t>
            </a:r>
            <a:endParaRPr lang="en-US" sz="1000" dirty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0A5EA6A-5CC2-4014-B857-5851599C6A3A}"/>
              </a:ext>
            </a:extLst>
          </p:cNvPr>
          <p:cNvGrpSpPr/>
          <p:nvPr userDrawn="1"/>
        </p:nvGrpSpPr>
        <p:grpSpPr>
          <a:xfrm>
            <a:off x="6994766" y="2855575"/>
            <a:ext cx="1626433" cy="1817208"/>
            <a:chOff x="6808033" y="2485869"/>
            <a:chExt cx="1626433" cy="181720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A8B07CF-694E-4DE7-BFB8-2BE0B43DA1D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796" t="1136" r="1057"/>
            <a:stretch/>
          </p:blipFill>
          <p:spPr>
            <a:xfrm>
              <a:off x="6808033" y="2485869"/>
              <a:ext cx="1626433" cy="1817208"/>
            </a:xfrm>
            <a:prstGeom prst="rect">
              <a:avLst/>
            </a:prstGeom>
            <a:ln w="3175">
              <a:solidFill>
                <a:schemeClr val="bg2">
                  <a:lumMod val="60000"/>
                  <a:lumOff val="40000"/>
                </a:schemeClr>
              </a:solidFill>
            </a:ln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B9DCF80-5759-4134-AFB0-6E099B6BC2C4}"/>
                </a:ext>
              </a:extLst>
            </p:cNvPr>
            <p:cNvSpPr/>
            <p:nvPr userDrawn="1"/>
          </p:nvSpPr>
          <p:spPr>
            <a:xfrm>
              <a:off x="6808033" y="2485869"/>
              <a:ext cx="1626433" cy="394064"/>
            </a:xfrm>
            <a:prstGeom prst="rect">
              <a:avLst/>
            </a:prstGeom>
            <a:noFill/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rIns="182880" rtlCol="0" anchor="ctr"/>
            <a:lstStyle/>
            <a:p>
              <a:pPr algn="l"/>
              <a:endParaRPr lang="en-CA" dirty="0" err="1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31E5459-0781-4692-88B8-0581A3B63EDB}"/>
              </a:ext>
            </a:extLst>
          </p:cNvPr>
          <p:cNvSpPr/>
          <p:nvPr userDrawn="1"/>
        </p:nvSpPr>
        <p:spPr>
          <a:xfrm>
            <a:off x="397379" y="1622705"/>
            <a:ext cx="2019784" cy="1971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Primary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colours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RGB values</a:t>
            </a:r>
            <a:endParaRPr kumimoji="0" lang="en-CA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183A32-441A-4D9D-A139-550A8EBA281B}"/>
              </a:ext>
            </a:extLst>
          </p:cNvPr>
          <p:cNvSpPr/>
          <p:nvPr userDrawn="1"/>
        </p:nvSpPr>
        <p:spPr>
          <a:xfrm>
            <a:off x="402719" y="2751562"/>
            <a:ext cx="2218556" cy="19717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Secondary </a:t>
            </a: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colours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– RGB values</a:t>
            </a:r>
          </a:p>
        </p:txBody>
      </p:sp>
      <p:graphicFrame>
        <p:nvGraphicFramePr>
          <p:cNvPr id="22" name="Table 14">
            <a:extLst>
              <a:ext uri="{FF2B5EF4-FFF2-40B4-BE49-F238E27FC236}">
                <a16:creationId xmlns:a16="http://schemas.microsoft.com/office/drawing/2014/main" id="{F7042F08-0092-4E92-8D07-3E58A961CA7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41845523"/>
              </p:ext>
            </p:extLst>
          </p:nvPr>
        </p:nvGraphicFramePr>
        <p:xfrm>
          <a:off x="401642" y="1895585"/>
          <a:ext cx="5740080" cy="7463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17510">
                  <a:extLst>
                    <a:ext uri="{9D8B030D-6E8A-4147-A177-3AD203B41FA5}">
                      <a16:colId xmlns:a16="http://schemas.microsoft.com/office/drawing/2014/main" val="3441835300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977536678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125852545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931395583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2451672989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1199082826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2368813008"/>
                    </a:ext>
                  </a:extLst>
                </a:gridCol>
                <a:gridCol w="717510">
                  <a:extLst>
                    <a:ext uri="{9D8B030D-6E8A-4147-A177-3AD203B41FA5}">
                      <a16:colId xmlns:a16="http://schemas.microsoft.com/office/drawing/2014/main" val="394202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Green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0 167 88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0 68 39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4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4 97 56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61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6 135 78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74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0 196 110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4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92 215 144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D7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172 229 196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E5C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202 238 217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22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Blue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0 0 193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0 0 96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0 0 130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0 0 154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30 30 229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45 105 255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118 176 255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193 216 247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95550"/>
                  </a:ext>
                </a:extLst>
              </a:tr>
            </a:tbl>
          </a:graphicData>
        </a:graphic>
      </p:graphicFrame>
      <p:graphicFrame>
        <p:nvGraphicFramePr>
          <p:cNvPr id="23" name="Table 14">
            <a:extLst>
              <a:ext uri="{FF2B5EF4-FFF2-40B4-BE49-F238E27FC236}">
                <a16:creationId xmlns:a16="http://schemas.microsoft.com/office/drawing/2014/main" id="{33CF129F-B729-4099-BEC4-3E9DF876EB9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53255943"/>
              </p:ext>
            </p:extLst>
          </p:nvPr>
        </p:nvGraphicFramePr>
        <p:xfrm>
          <a:off x="406986" y="3026219"/>
          <a:ext cx="5734736" cy="18659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716842">
                  <a:extLst>
                    <a:ext uri="{9D8B030D-6E8A-4147-A177-3AD203B41FA5}">
                      <a16:colId xmlns:a16="http://schemas.microsoft.com/office/drawing/2014/main" val="3441835300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977536678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125852545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931395583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2451672989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1199082826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2368813008"/>
                    </a:ext>
                  </a:extLst>
                </a:gridCol>
                <a:gridCol w="716842">
                  <a:extLst>
                    <a:ext uri="{9D8B030D-6E8A-4147-A177-3AD203B41FA5}">
                      <a16:colId xmlns:a16="http://schemas.microsoft.com/office/drawing/2014/main" val="394202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Navy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40 43 62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52 56 75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38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66 69 89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45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94 96 115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607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142 144 162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90A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223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Coral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236 100 83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131 10 16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0A1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160 14 24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0E1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208 58 57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3A3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255 119 105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76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246 144 130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908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252 172 161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ACA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246 204 199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C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195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Violet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96 69 132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38 24 72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184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51 26 83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1A5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76 51 107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36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111 86 147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569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131 106 166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6AA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157 141 188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8D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212 210 233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47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Gold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244 150 0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167 89 0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59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206 118 18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76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215 125 40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7D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249 171 46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AB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252 196 87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4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248 211 138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251 233 198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160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Turquoise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6 199 186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9 132 123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847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8 162 152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A29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Dark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5 178 167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B2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40 215 203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D7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106 231 223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E7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157 243 237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F3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Light 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197 244 241</a:t>
                      </a:r>
                      <a:endParaRPr kumimoji="0" lang="en-CA" sz="7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9689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91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8462" y="472438"/>
            <a:ext cx="8347075" cy="79216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CA" noProof="0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8462" y="1434190"/>
            <a:ext cx="8347075" cy="4584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noProof="0"/>
              <a:t>Click to add main bullet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  <a:p>
            <a:pPr lvl="5"/>
            <a:r>
              <a:rPr lang="en-CA" noProof="0"/>
              <a:t>Sixth level</a:t>
            </a:r>
          </a:p>
          <a:p>
            <a:pPr lvl="6"/>
            <a:r>
              <a:rPr lang="en-CA" noProof="0"/>
              <a:t>Seventh level</a:t>
            </a:r>
          </a:p>
          <a:p>
            <a:pPr lvl="7"/>
            <a:r>
              <a:rPr lang="en-CA" noProof="0"/>
              <a:t>Eighth level</a:t>
            </a:r>
          </a:p>
          <a:p>
            <a:pPr lvl="8"/>
            <a:r>
              <a:rPr lang="en-CA" noProof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7965" y="7010399"/>
            <a:ext cx="336035" cy="45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">
                <a:solidFill>
                  <a:srgbClr val="E6E6E6"/>
                </a:solidFill>
              </a:defRPr>
            </a:lvl1pPr>
          </a:lstStyle>
          <a:p>
            <a:fld id="{B2679580-1DE4-4AED-B4F0-F01E2D77314B}" type="datetime4">
              <a:rPr lang="en-CA" smtClean="0"/>
              <a:t>May 19,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1799" y="7010401"/>
            <a:ext cx="8462696" cy="457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>
              <a:defRPr sz="100">
                <a:solidFill>
                  <a:srgbClr val="E6E6E6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3067" y="6399283"/>
            <a:ext cx="212470" cy="17569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BB333B34-C87C-402E-ABB0-13B7C9DEBBC4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9FED822-C471-4D2E-A0BB-CC0CD972B6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 bwMode="black">
          <a:xfrm>
            <a:off x="218856" y="6198592"/>
            <a:ext cx="1438829" cy="5577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3371AE-6D0B-718E-4871-8DFC6AB6332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148138" y="6642100"/>
            <a:ext cx="8731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2848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50" r:id="rId2"/>
    <p:sldLayoutId id="2147483683" r:id="rId3"/>
    <p:sldLayoutId id="2147483690" r:id="rId4"/>
    <p:sldLayoutId id="2147483701" r:id="rId5"/>
    <p:sldLayoutId id="2147483691" r:id="rId6"/>
    <p:sldLayoutId id="2147483695" r:id="rId7"/>
    <p:sldLayoutId id="2147483696" r:id="rId8"/>
    <p:sldLayoutId id="2147483697" r:id="rId9"/>
    <p:sldLayoutId id="2147483700" r:id="rId10"/>
    <p:sldLayoutId id="2147483654" r:id="rId11"/>
    <p:sldLayoutId id="2147483698" r:id="rId12"/>
    <p:sldLayoutId id="2147483652" r:id="rId13"/>
    <p:sldLayoutId id="2147483653" r:id="rId14"/>
    <p:sldLayoutId id="2147483705" r:id="rId15"/>
    <p:sldLayoutId id="2147483704" r:id="rId16"/>
    <p:sldLayoutId id="2147483692" r:id="rId17"/>
    <p:sldLayoutId id="2147483703" r:id="rId18"/>
    <p:sldLayoutId id="2147483655" r:id="rId19"/>
    <p:sldLayoutId id="2147483668" r:id="rId20"/>
    <p:sldLayoutId id="2147483693" r:id="rId21"/>
    <p:sldLayoutId id="2147483694" r:id="rId22"/>
    <p:sldLayoutId id="2147483699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7744" indent="-237744" algn="l" defTabSz="914400" rtl="0" eaLnBrk="1" latinLnBrk="0" hangingPunct="1">
        <a:lnSpc>
          <a:spcPct val="95000"/>
        </a:lnSpc>
        <a:spcBef>
          <a:spcPts val="12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37744" algn="l" defTabSz="914400" rtl="0" eaLnBrk="1" latinLnBrk="0" hangingPunct="1">
        <a:lnSpc>
          <a:spcPct val="95000"/>
        </a:lnSpc>
        <a:spcBef>
          <a:spcPts val="9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5000"/>
        </a:lnSpc>
        <a:spcBef>
          <a:spcPts val="8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728" indent="-237744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9344" indent="-228600" algn="l" defTabSz="914400" rtl="0" eaLnBrk="1" latinLnBrk="0" hangingPunct="1">
        <a:lnSpc>
          <a:spcPct val="95000"/>
        </a:lnSpc>
        <a:spcBef>
          <a:spcPts val="600"/>
        </a:spcBef>
        <a:buClr>
          <a:schemeClr val="tx1"/>
        </a:buClr>
        <a:buSzPct val="11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51" userDrawn="1">
          <p15:clr>
            <a:srgbClr val="F26B43"/>
          </p15:clr>
        </p15:guide>
        <p15:guide id="4" pos="5509" userDrawn="1">
          <p15:clr>
            <a:srgbClr val="F26B43"/>
          </p15:clr>
        </p15:guide>
        <p15:guide id="5" orient="horz" pos="41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8463" y="554780"/>
            <a:ext cx="6271278" cy="3036178"/>
          </a:xfrm>
        </p:spPr>
        <p:txBody>
          <a:bodyPr>
            <a:noAutofit/>
          </a:bodyPr>
          <a:lstStyle/>
          <a:p>
            <a:r>
              <a:rPr lang="en-CA" sz="4800" dirty="0" err="1"/>
              <a:t>BarraOne</a:t>
            </a:r>
            <a:r>
              <a:rPr lang="en-CA" sz="4800" dirty="0"/>
              <a:t> Stress Test </a:t>
            </a:r>
            <a:br>
              <a:rPr lang="en-CA" sz="4800" dirty="0"/>
            </a:br>
            <a:r>
              <a:rPr lang="en-CA" sz="4800" dirty="0"/>
              <a:t>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A896C9-90C4-41B2-B825-88529D1D4C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463" y="4837814"/>
            <a:ext cx="6053612" cy="359025"/>
          </a:xfrm>
        </p:spPr>
        <p:txBody>
          <a:bodyPr/>
          <a:lstStyle/>
          <a:p>
            <a:r>
              <a:rPr lang="en-CA" dirty="0"/>
              <a:t>Han Zhang, Charles Liu, Ligang Wang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D4764A-49A9-434D-B95F-71D4E235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30F04-01EC-4DC6-BB3B-B7B8381DB434}" type="datetime4">
              <a:rPr lang="en-CA" smtClean="0"/>
              <a:pPr/>
              <a:t>May 19, 2026</a:t>
            </a:fld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411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300" y="76355"/>
            <a:ext cx="8902700" cy="404762"/>
          </a:xfrm>
        </p:spPr>
        <p:txBody>
          <a:bodyPr/>
          <a:lstStyle/>
          <a:p>
            <a:r>
              <a:rPr lang="en-CA" dirty="0"/>
              <a:t>Stress Test Process Overview – BRC GFC vs. </a:t>
            </a:r>
            <a:r>
              <a:rPr lang="en-CA" dirty="0" err="1"/>
              <a:t>BarraOne</a:t>
            </a:r>
            <a:r>
              <a:rPr lang="en-CA" dirty="0"/>
              <a:t> (B1)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2B70AD6-D571-42C1-9A48-60FF6F1D3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551463"/>
            <a:ext cx="9042400" cy="577747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Current GFC stress test uses </a:t>
            </a:r>
            <a:r>
              <a:rPr lang="en-US" b="1" dirty="0"/>
              <a:t>quarterly earning sensitivity (ES) </a:t>
            </a:r>
            <a:r>
              <a:rPr lang="en-US" dirty="0"/>
              <a:t>and internal GFC shocks to estimate impact</a:t>
            </a:r>
            <a:r>
              <a:rPr lang="en-CA" dirty="0"/>
              <a:t>.</a:t>
            </a:r>
          </a:p>
          <a:p>
            <a:pPr marL="1133856" lvl="2" indent="-457200">
              <a:buFont typeface="+mj-lt"/>
              <a:buAutoNum type="arabicPeriod"/>
            </a:pPr>
            <a:endParaRPr lang="en-CA" dirty="0"/>
          </a:p>
          <a:p>
            <a:pPr marL="1133856" lvl="2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r>
              <a:rPr lang="en-CA" dirty="0" err="1"/>
              <a:t>BarraOne</a:t>
            </a:r>
            <a:r>
              <a:rPr lang="en-CA" dirty="0"/>
              <a:t>(B1) Stress Test </a:t>
            </a:r>
          </a:p>
          <a:p>
            <a:pPr marL="681228" lvl="1" indent="-342900">
              <a:buFont typeface="+mj-lt"/>
              <a:buAutoNum type="alphaUcPeriod"/>
            </a:pPr>
            <a:r>
              <a:rPr lang="en-CA" b="1" dirty="0"/>
              <a:t>Asset Impact </a:t>
            </a:r>
            <a:r>
              <a:rPr lang="en-CA" dirty="0"/>
              <a:t>– </a:t>
            </a:r>
            <a:r>
              <a:rPr lang="en-CA" dirty="0" err="1"/>
              <a:t>BarraOne</a:t>
            </a:r>
            <a:r>
              <a:rPr lang="en-CA" dirty="0"/>
              <a:t> provides the stress impact on asset.</a:t>
            </a:r>
          </a:p>
          <a:p>
            <a:pPr marL="681228" lvl="1" indent="-342900">
              <a:buFont typeface="+mj-lt"/>
              <a:buAutoNum type="alphaUcPeriod"/>
            </a:pPr>
            <a:r>
              <a:rPr lang="en-CA" b="1" dirty="0"/>
              <a:t>Shock Conversion </a:t>
            </a:r>
            <a:r>
              <a:rPr lang="en-CA" dirty="0"/>
              <a:t>– Convert B1 scenario shocks and asset returns to market factors.</a:t>
            </a:r>
          </a:p>
          <a:p>
            <a:pPr marL="681228" lvl="1" indent="-342900">
              <a:buFont typeface="+mj-lt"/>
              <a:buAutoNum type="alphaUcPeriod"/>
            </a:pPr>
            <a:r>
              <a:rPr lang="en-CA" b="1" dirty="0"/>
              <a:t>ES-based Liability/Net Impact </a:t>
            </a:r>
            <a:r>
              <a:rPr lang="en-CA" dirty="0"/>
              <a:t>– Blend </a:t>
            </a:r>
            <a:r>
              <a:rPr lang="en-US" dirty="0"/>
              <a:t>quarterly earning sensitivities (ES) with factors from B.</a:t>
            </a:r>
          </a:p>
          <a:p>
            <a:pPr marL="738378" lvl="1" indent="-400050">
              <a:buFont typeface="+mj-lt"/>
              <a:buAutoNum type="alphaUcPeriod"/>
            </a:pPr>
            <a:r>
              <a:rPr lang="en-CA" b="1" dirty="0"/>
              <a:t>Net Impact Summary</a:t>
            </a:r>
            <a:r>
              <a:rPr lang="en-CA" dirty="0"/>
              <a:t>– </a:t>
            </a:r>
            <a:r>
              <a:rPr lang="en-US" dirty="0"/>
              <a:t>Combine asset impact and liability impact or use blended net earnings sensitivity, depending on the ES segment’s scaling method.</a:t>
            </a:r>
          </a:p>
          <a:p>
            <a:pPr marL="738378" lvl="1" indent="-400050">
              <a:buFont typeface="+mj-lt"/>
              <a:buAutoNum type="alphaUcPeriod"/>
            </a:pPr>
            <a:endParaRPr lang="en-US" b="1" dirty="0"/>
          </a:p>
          <a:p>
            <a:pPr marL="738378" lvl="1" indent="-400050">
              <a:buFont typeface="+mj-lt"/>
              <a:buAutoNum type="alphaUcPeriod"/>
            </a:pPr>
            <a:endParaRPr lang="en-US" b="1" dirty="0"/>
          </a:p>
          <a:p>
            <a:pPr marL="338328" lvl="1" indent="0">
              <a:buNone/>
            </a:pPr>
            <a:r>
              <a:rPr lang="en-US" b="1" dirty="0"/>
              <a:t>E. Aggregation</a:t>
            </a:r>
            <a:r>
              <a:rPr lang="en-US" dirty="0"/>
              <a:t> – net impacts are summarized by ES segment and rolled up to the company level by asset group (interest rates, public equity, ALDA, currency).</a:t>
            </a:r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ED332-B879-E44C-A53D-51E2F93EA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2</a:t>
            </a:fld>
            <a:endParaRPr lang="en-C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748CE6-C3F7-154D-C78C-437443B903C4}"/>
              </a:ext>
            </a:extLst>
          </p:cNvPr>
          <p:cNvGrpSpPr/>
          <p:nvPr/>
        </p:nvGrpSpPr>
        <p:grpSpPr>
          <a:xfrm>
            <a:off x="1409467" y="1195328"/>
            <a:ext cx="6165687" cy="601580"/>
            <a:chOff x="648459" y="780969"/>
            <a:chExt cx="6165687" cy="601580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35F5ED7A-440A-6A36-5922-38940DE177CB}"/>
                </a:ext>
              </a:extLst>
            </p:cNvPr>
            <p:cNvSpPr/>
            <p:nvPr/>
          </p:nvSpPr>
          <p:spPr>
            <a:xfrm>
              <a:off x="648459" y="821045"/>
              <a:ext cx="1684182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Quarterly Earning Sensitivity (Net)</a:t>
              </a:r>
            </a:p>
          </p:txBody>
        </p:sp>
        <p:sp>
          <p:nvSpPr>
            <p:cNvPr id="4" name="Multiplication Sign 3">
              <a:extLst>
                <a:ext uri="{FF2B5EF4-FFF2-40B4-BE49-F238E27FC236}">
                  <a16:creationId xmlns:a16="http://schemas.microsoft.com/office/drawing/2014/main" id="{0C1FB40F-0EFE-0B34-67ED-657FB611CDB5}"/>
                </a:ext>
              </a:extLst>
            </p:cNvPr>
            <p:cNvSpPr/>
            <p:nvPr/>
          </p:nvSpPr>
          <p:spPr>
            <a:xfrm>
              <a:off x="2407249" y="780969"/>
              <a:ext cx="597159" cy="601580"/>
            </a:xfrm>
            <a:prstGeom prst="mathMultipl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 err="1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D846A10C-D34A-3012-40FF-8C4655DCBDFB}"/>
                </a:ext>
              </a:extLst>
            </p:cNvPr>
            <p:cNvSpPr/>
            <p:nvPr/>
          </p:nvSpPr>
          <p:spPr>
            <a:xfrm>
              <a:off x="3079016" y="810307"/>
              <a:ext cx="1302740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chemeClr val="tx1"/>
                  </a:solidFill>
                </a:rPr>
                <a:t>Internal GFC Shock Factors</a:t>
              </a:r>
            </a:p>
          </p:txBody>
        </p:sp>
        <p:sp>
          <p:nvSpPr>
            <p:cNvPr id="6" name="Equals 5">
              <a:extLst>
                <a:ext uri="{FF2B5EF4-FFF2-40B4-BE49-F238E27FC236}">
                  <a16:creationId xmlns:a16="http://schemas.microsoft.com/office/drawing/2014/main" id="{15F118E7-6FAA-AFF2-FEE8-2930BBAA1962}"/>
                </a:ext>
              </a:extLst>
            </p:cNvPr>
            <p:cNvSpPr/>
            <p:nvPr/>
          </p:nvSpPr>
          <p:spPr>
            <a:xfrm>
              <a:off x="4468166" y="810847"/>
              <a:ext cx="573780" cy="523641"/>
            </a:xfrm>
            <a:prstGeom prst="mathEqual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DF45E40F-293F-17D2-8CF4-3677DD007033}"/>
                </a:ext>
              </a:extLst>
            </p:cNvPr>
            <p:cNvSpPr/>
            <p:nvPr/>
          </p:nvSpPr>
          <p:spPr>
            <a:xfrm>
              <a:off x="5128357" y="819939"/>
              <a:ext cx="1685789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chemeClr val="tx1"/>
                  </a:solidFill>
                </a:rPr>
                <a:t>Earnings and Balance Sheet (Net) Impact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5A68FB-2421-6F91-B0BB-4788BDDC31DC}"/>
              </a:ext>
            </a:extLst>
          </p:cNvPr>
          <p:cNvGrpSpPr/>
          <p:nvPr/>
        </p:nvGrpSpPr>
        <p:grpSpPr>
          <a:xfrm>
            <a:off x="427127" y="4571055"/>
            <a:ext cx="8289745" cy="538099"/>
            <a:chOff x="398461" y="2002456"/>
            <a:chExt cx="8289745" cy="538099"/>
          </a:xfrm>
        </p:grpSpPr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C37DDA17-A2B1-5421-5887-092ED776FCF8}"/>
                </a:ext>
              </a:extLst>
            </p:cNvPr>
            <p:cNvSpPr/>
            <p:nvPr/>
          </p:nvSpPr>
          <p:spPr>
            <a:xfrm>
              <a:off x="398461" y="2016914"/>
              <a:ext cx="1243727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 err="1">
                  <a:solidFill>
                    <a:schemeClr val="tx1"/>
                  </a:solidFill>
                </a:rPr>
                <a:t>BarraOne</a:t>
              </a:r>
              <a:r>
                <a:rPr lang="en-US" sz="1100" dirty="0">
                  <a:solidFill>
                    <a:schemeClr val="tx1"/>
                  </a:solidFill>
                </a:rPr>
                <a:t> Asset Impact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3DE3DF5A-9534-06EF-19CC-D2D8741C01A9}"/>
                </a:ext>
              </a:extLst>
            </p:cNvPr>
            <p:cNvSpPr/>
            <p:nvPr/>
          </p:nvSpPr>
          <p:spPr>
            <a:xfrm>
              <a:off x="2401786" y="2016914"/>
              <a:ext cx="1684182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100" dirty="0">
                  <a:solidFill>
                    <a:schemeClr val="tx1"/>
                  </a:solidFill>
                </a:rPr>
                <a:t>Quarterly Earning Sensitivity (Liability)</a:t>
              </a:r>
            </a:p>
          </p:txBody>
        </p:sp>
        <p:sp>
          <p:nvSpPr>
            <p:cNvPr id="13" name="Multiplication Sign 12">
              <a:extLst>
                <a:ext uri="{FF2B5EF4-FFF2-40B4-BE49-F238E27FC236}">
                  <a16:creationId xmlns:a16="http://schemas.microsoft.com/office/drawing/2014/main" id="{4C772D0C-E4A5-FA41-40A0-69640958993A}"/>
                </a:ext>
              </a:extLst>
            </p:cNvPr>
            <p:cNvSpPr/>
            <p:nvPr/>
          </p:nvSpPr>
          <p:spPr>
            <a:xfrm>
              <a:off x="4165067" y="2002457"/>
              <a:ext cx="597159" cy="523641"/>
            </a:xfrm>
            <a:prstGeom prst="mathMultiply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 err="1"/>
            </a:p>
          </p:txBody>
        </p: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BB2B6C3A-EF9D-08AA-B1AC-42DBE9F778CC}"/>
                </a:ext>
              </a:extLst>
            </p:cNvPr>
            <p:cNvSpPr/>
            <p:nvPr/>
          </p:nvSpPr>
          <p:spPr>
            <a:xfrm>
              <a:off x="4863662" y="2002458"/>
              <a:ext cx="1368231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 err="1">
                  <a:solidFill>
                    <a:schemeClr val="tx1"/>
                  </a:solidFill>
                </a:rPr>
                <a:t>BarraOne</a:t>
              </a:r>
              <a:r>
                <a:rPr lang="en-US" sz="1100" dirty="0">
                  <a:solidFill>
                    <a:schemeClr val="tx1"/>
                  </a:solidFill>
                </a:rPr>
                <a:t> Shock Factors</a:t>
              </a:r>
            </a:p>
          </p:txBody>
        </p:sp>
        <p:sp>
          <p:nvSpPr>
            <p:cNvPr id="15" name="Equals 14">
              <a:extLst>
                <a:ext uri="{FF2B5EF4-FFF2-40B4-BE49-F238E27FC236}">
                  <a16:creationId xmlns:a16="http://schemas.microsoft.com/office/drawing/2014/main" id="{1B86D2B9-9587-155F-6452-0B3FFEDE326C}"/>
                </a:ext>
              </a:extLst>
            </p:cNvPr>
            <p:cNvSpPr/>
            <p:nvPr/>
          </p:nvSpPr>
          <p:spPr>
            <a:xfrm>
              <a:off x="6330265" y="2009685"/>
              <a:ext cx="573780" cy="523641"/>
            </a:xfrm>
            <a:prstGeom prst="mathEqual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16" name="Flowchart: Process 15">
              <a:extLst>
                <a:ext uri="{FF2B5EF4-FFF2-40B4-BE49-F238E27FC236}">
                  <a16:creationId xmlns:a16="http://schemas.microsoft.com/office/drawing/2014/main" id="{4DE90B54-772D-A641-A000-8B60158C5E31}"/>
                </a:ext>
              </a:extLst>
            </p:cNvPr>
            <p:cNvSpPr/>
            <p:nvPr/>
          </p:nvSpPr>
          <p:spPr>
            <a:xfrm>
              <a:off x="7002417" y="2002456"/>
              <a:ext cx="1685789" cy="5236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100" dirty="0">
                  <a:solidFill>
                    <a:schemeClr val="tx1"/>
                  </a:solidFill>
                </a:rPr>
                <a:t>Earnings and Balance Sheet (Net) Impact</a:t>
              </a:r>
            </a:p>
          </p:txBody>
        </p:sp>
        <p:sp>
          <p:nvSpPr>
            <p:cNvPr id="17" name="Plus Sign 16">
              <a:extLst>
                <a:ext uri="{FF2B5EF4-FFF2-40B4-BE49-F238E27FC236}">
                  <a16:creationId xmlns:a16="http://schemas.microsoft.com/office/drawing/2014/main" id="{1FC858DD-CEB4-A947-F817-EA4D6763B175}"/>
                </a:ext>
              </a:extLst>
            </p:cNvPr>
            <p:cNvSpPr/>
            <p:nvPr/>
          </p:nvSpPr>
          <p:spPr>
            <a:xfrm>
              <a:off x="1726139" y="2016914"/>
              <a:ext cx="597159" cy="516413"/>
            </a:xfrm>
            <a:prstGeom prst="mathPlus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dirty="0" err="1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7049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92F2-2104-7912-5864-D2739F60F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5735-A299-CE66-933E-30E3C614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3" y="472439"/>
            <a:ext cx="8347076" cy="463940"/>
          </a:xfrm>
        </p:spPr>
        <p:txBody>
          <a:bodyPr anchor="t">
            <a:normAutofit/>
          </a:bodyPr>
          <a:lstStyle/>
          <a:p>
            <a:r>
              <a:rPr lang="en-CA" dirty="0" err="1"/>
              <a:t>BarraOne</a:t>
            </a:r>
            <a:r>
              <a:rPr lang="en-CA" dirty="0"/>
              <a:t> Stress Test – Sample Output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6501C-C503-8658-D0D8-FF80AC19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3067" y="6399283"/>
            <a:ext cx="212470" cy="175694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fld id="{BB333B34-C87C-402E-ABB0-13B7C9DEBBC4}" type="slidenum">
              <a:rPr lang="en-CA" smtClean="0"/>
              <a:pPr>
                <a:spcAft>
                  <a:spcPts val="600"/>
                </a:spcAft>
              </a:pPr>
              <a:t>3</a:t>
            </a:fld>
            <a:endParaRPr lang="en-CA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C87AF4-CD52-5D97-0C9F-B2EB50266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1862" y="1420393"/>
            <a:ext cx="7821116" cy="36581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504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D5CB-EDB4-D168-583C-FB87300E5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B4CFA-48D7-8102-AAB1-98E98A416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3" y="112854"/>
            <a:ext cx="8721779" cy="364738"/>
          </a:xfrm>
        </p:spPr>
        <p:txBody>
          <a:bodyPr/>
          <a:lstStyle/>
          <a:p>
            <a:r>
              <a:rPr lang="en-CA" dirty="0" err="1"/>
              <a:t>BarraOne</a:t>
            </a:r>
            <a:r>
              <a:rPr lang="en-CA" dirty="0"/>
              <a:t> Stress Test Automation (Future State)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3BDAE-E0B2-9F29-FD2D-046EB7F1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4</a:t>
            </a:fld>
            <a:endParaRPr lang="en-CA"/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F9618557-4AEE-3972-BAB1-635629261FA7}"/>
              </a:ext>
            </a:extLst>
          </p:cNvPr>
          <p:cNvGrpSpPr/>
          <p:nvPr/>
        </p:nvGrpSpPr>
        <p:grpSpPr>
          <a:xfrm>
            <a:off x="2180875" y="6314445"/>
            <a:ext cx="3963343" cy="260532"/>
            <a:chOff x="180094" y="6062888"/>
            <a:chExt cx="3963343" cy="260532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4EA13BEE-1B30-17B8-70B3-0E10C1CE5FDE}"/>
                </a:ext>
              </a:extLst>
            </p:cNvPr>
            <p:cNvSpPr/>
            <p:nvPr/>
          </p:nvSpPr>
          <p:spPr>
            <a:xfrm>
              <a:off x="180094" y="6062889"/>
              <a:ext cx="968216" cy="26053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Input (Source)</a:t>
              </a:r>
            </a:p>
          </p:txBody>
        </p:sp>
        <p:sp>
          <p:nvSpPr>
            <p:cNvPr id="248" name="Flowchart: Process 247">
              <a:extLst>
                <a:ext uri="{FF2B5EF4-FFF2-40B4-BE49-F238E27FC236}">
                  <a16:creationId xmlns:a16="http://schemas.microsoft.com/office/drawing/2014/main" id="{951AAC4E-E657-D5C9-1648-07F35660D4F0}"/>
                </a:ext>
              </a:extLst>
            </p:cNvPr>
            <p:cNvSpPr/>
            <p:nvPr/>
          </p:nvSpPr>
          <p:spPr>
            <a:xfrm>
              <a:off x="1147352" y="6062888"/>
              <a:ext cx="968215" cy="260531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Template</a:t>
              </a:r>
            </a:p>
          </p:txBody>
        </p:sp>
        <p:sp>
          <p:nvSpPr>
            <p:cNvPr id="249" name="Flowchart: Process 248">
              <a:extLst>
                <a:ext uri="{FF2B5EF4-FFF2-40B4-BE49-F238E27FC236}">
                  <a16:creationId xmlns:a16="http://schemas.microsoft.com/office/drawing/2014/main" id="{EAC49AD2-8FDB-AD13-9E9E-FAF16FA73268}"/>
                </a:ext>
              </a:extLst>
            </p:cNvPr>
            <p:cNvSpPr/>
            <p:nvPr/>
          </p:nvSpPr>
          <p:spPr>
            <a:xfrm>
              <a:off x="2115567" y="6062888"/>
              <a:ext cx="2027870" cy="260531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Intermediate Data / Output</a:t>
              </a:r>
            </a:p>
          </p:txBody>
        </p:sp>
      </p:grp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7373EA10-90FD-40BA-00C5-3E0BC5DF68B8}"/>
              </a:ext>
            </a:extLst>
          </p:cNvPr>
          <p:cNvSpPr/>
          <p:nvPr/>
        </p:nvSpPr>
        <p:spPr>
          <a:xfrm>
            <a:off x="854884" y="5031956"/>
            <a:ext cx="1704083" cy="814740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Quarterly </a:t>
            </a:r>
            <a:r>
              <a:rPr lang="en-US" sz="1200" b="1" dirty="0">
                <a:solidFill>
                  <a:schemeClr val="tx1"/>
                </a:solidFill>
              </a:rPr>
              <a:t>Earning Sensitivity(ES) </a:t>
            </a:r>
            <a:r>
              <a:rPr lang="en-US" sz="1200" dirty="0">
                <a:solidFill>
                  <a:schemeClr val="tx1"/>
                </a:solidFill>
              </a:rPr>
              <a:t>Wave 1 &amp; Wave 2 (ALM)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314F649D-6A09-9C7D-B47C-66452CD9EF95}"/>
              </a:ext>
            </a:extLst>
          </p:cNvPr>
          <p:cNvSpPr/>
          <p:nvPr/>
        </p:nvSpPr>
        <p:spPr>
          <a:xfrm>
            <a:off x="827283" y="1699194"/>
            <a:ext cx="1715086" cy="918545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Asset Impact with FX and without FX (B1);</a:t>
            </a:r>
          </a:p>
          <a:p>
            <a:pPr algn="l"/>
            <a:r>
              <a:rPr lang="en-US" sz="1200" dirty="0">
                <a:solidFill>
                  <a:schemeClr val="tx1"/>
                </a:solidFill>
              </a:rPr>
              <a:t>GA Position (B1, Internal)</a:t>
            </a:r>
          </a:p>
        </p:txBody>
      </p:sp>
      <p:sp>
        <p:nvSpPr>
          <p:cNvPr id="23" name="Flowchart: Process 22">
            <a:extLst>
              <a:ext uri="{FF2B5EF4-FFF2-40B4-BE49-F238E27FC236}">
                <a16:creationId xmlns:a16="http://schemas.microsoft.com/office/drawing/2014/main" id="{07BF3E65-1352-DED4-1CE9-ECB1F95D0002}"/>
              </a:ext>
            </a:extLst>
          </p:cNvPr>
          <p:cNvSpPr/>
          <p:nvPr/>
        </p:nvSpPr>
        <p:spPr>
          <a:xfrm>
            <a:off x="828173" y="2857559"/>
            <a:ext cx="1704083" cy="490170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Stress Scenario IR and FX Shocks (B1)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3B1DADB6-7726-DA3C-CE71-2C154A658ACF}"/>
              </a:ext>
            </a:extLst>
          </p:cNvPr>
          <p:cNvSpPr/>
          <p:nvPr/>
        </p:nvSpPr>
        <p:spPr>
          <a:xfrm>
            <a:off x="817169" y="997993"/>
            <a:ext cx="1715087" cy="490171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Portfolio – ES Segment Mapping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661C4045-E698-A220-C355-EA6A6044FED8}"/>
              </a:ext>
            </a:extLst>
          </p:cNvPr>
          <p:cNvSpPr/>
          <p:nvPr/>
        </p:nvSpPr>
        <p:spPr>
          <a:xfrm>
            <a:off x="3223990" y="1981919"/>
            <a:ext cx="1875619" cy="364739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A. </a:t>
            </a:r>
            <a:r>
              <a:rPr lang="en-US" sz="1200" dirty="0" err="1">
                <a:solidFill>
                  <a:schemeClr val="tx1"/>
                </a:solidFill>
              </a:rPr>
              <a:t>BarraOne</a:t>
            </a:r>
            <a:r>
              <a:rPr lang="en-US" sz="1200" dirty="0">
                <a:solidFill>
                  <a:schemeClr val="tx1"/>
                </a:solidFill>
              </a:rPr>
              <a:t> Asset Impact + FX Impact</a:t>
            </a:r>
          </a:p>
        </p:txBody>
      </p:sp>
      <p:sp>
        <p:nvSpPr>
          <p:cNvPr id="229" name="Flowchart: Process 228">
            <a:extLst>
              <a:ext uri="{FF2B5EF4-FFF2-40B4-BE49-F238E27FC236}">
                <a16:creationId xmlns:a16="http://schemas.microsoft.com/office/drawing/2014/main" id="{17F8055F-1B72-E796-1F73-1B46A9B6BC0B}"/>
              </a:ext>
            </a:extLst>
          </p:cNvPr>
          <p:cNvSpPr/>
          <p:nvPr/>
        </p:nvSpPr>
        <p:spPr>
          <a:xfrm>
            <a:off x="844775" y="4456188"/>
            <a:ext cx="1715086" cy="364738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ES Segment Mapping</a:t>
            </a:r>
          </a:p>
        </p:txBody>
      </p:sp>
      <p:sp>
        <p:nvSpPr>
          <p:cNvPr id="250" name="Flowchart: Process 249">
            <a:extLst>
              <a:ext uri="{FF2B5EF4-FFF2-40B4-BE49-F238E27FC236}">
                <a16:creationId xmlns:a16="http://schemas.microsoft.com/office/drawing/2014/main" id="{33A66908-0948-216B-6081-273BFF07D007}"/>
              </a:ext>
            </a:extLst>
          </p:cNvPr>
          <p:cNvSpPr/>
          <p:nvPr/>
        </p:nvSpPr>
        <p:spPr>
          <a:xfrm>
            <a:off x="3223989" y="2842224"/>
            <a:ext cx="1875619" cy="500757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B. Shock factors for sensitivity blending</a:t>
            </a:r>
          </a:p>
        </p:txBody>
      </p:sp>
      <p:sp>
        <p:nvSpPr>
          <p:cNvPr id="181" name="Flowchart: Process 180">
            <a:extLst>
              <a:ext uri="{FF2B5EF4-FFF2-40B4-BE49-F238E27FC236}">
                <a16:creationId xmlns:a16="http://schemas.microsoft.com/office/drawing/2014/main" id="{40EF72D0-FFE3-2388-7442-367E3CC26B5B}"/>
              </a:ext>
            </a:extLst>
          </p:cNvPr>
          <p:cNvSpPr/>
          <p:nvPr/>
        </p:nvSpPr>
        <p:spPr>
          <a:xfrm>
            <a:off x="3223990" y="4364210"/>
            <a:ext cx="1875619" cy="542161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C. ES-based liability/net impact + FX Impact </a:t>
            </a:r>
          </a:p>
        </p:txBody>
      </p:sp>
      <p:sp>
        <p:nvSpPr>
          <p:cNvPr id="493" name="Flowchart: Process 492">
            <a:extLst>
              <a:ext uri="{FF2B5EF4-FFF2-40B4-BE49-F238E27FC236}">
                <a16:creationId xmlns:a16="http://schemas.microsoft.com/office/drawing/2014/main" id="{873A6C37-3CC9-1F4A-EC90-5122024A0D8E}"/>
              </a:ext>
            </a:extLst>
          </p:cNvPr>
          <p:cNvSpPr/>
          <p:nvPr/>
        </p:nvSpPr>
        <p:spPr>
          <a:xfrm>
            <a:off x="5961505" y="2797119"/>
            <a:ext cx="2027870" cy="594853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D. Net BS</a:t>
            </a:r>
            <a:r>
              <a:rPr lang="en-US" sz="1200" b="1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Impact summary E. Aggregation.</a:t>
            </a:r>
          </a:p>
        </p:txBody>
      </p:sp>
      <p:sp>
        <p:nvSpPr>
          <p:cNvPr id="226" name="Flowchart: Process 225">
            <a:extLst>
              <a:ext uri="{FF2B5EF4-FFF2-40B4-BE49-F238E27FC236}">
                <a16:creationId xmlns:a16="http://schemas.microsoft.com/office/drawing/2014/main" id="{6BB84938-A2C6-AC15-B3B5-1DF4346A675B}"/>
              </a:ext>
            </a:extLst>
          </p:cNvPr>
          <p:cNvSpPr/>
          <p:nvPr/>
        </p:nvSpPr>
        <p:spPr>
          <a:xfrm>
            <a:off x="827284" y="3558759"/>
            <a:ext cx="1704972" cy="661174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B1 Scenario Shock – ES Sensitivity Mapping</a:t>
            </a:r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49B80D2C-B393-FF5B-DC36-A3D3454959D3}"/>
              </a:ext>
            </a:extLst>
          </p:cNvPr>
          <p:cNvCxnSpPr>
            <a:stCxn id="25" idx="3"/>
            <a:endCxn id="14" idx="1"/>
          </p:cNvCxnSpPr>
          <p:nvPr/>
        </p:nvCxnSpPr>
        <p:spPr>
          <a:xfrm>
            <a:off x="2532256" y="1243079"/>
            <a:ext cx="691734" cy="92121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58FA03E-38E2-9834-1A90-A944021247BF}"/>
              </a:ext>
            </a:extLst>
          </p:cNvPr>
          <p:cNvCxnSpPr>
            <a:stCxn id="22" idx="3"/>
            <a:endCxn id="14" idx="1"/>
          </p:cNvCxnSpPr>
          <p:nvPr/>
        </p:nvCxnSpPr>
        <p:spPr>
          <a:xfrm>
            <a:off x="2542369" y="2158467"/>
            <a:ext cx="681621" cy="5822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Arrow Connector 235">
            <a:extLst>
              <a:ext uri="{FF2B5EF4-FFF2-40B4-BE49-F238E27FC236}">
                <a16:creationId xmlns:a16="http://schemas.microsoft.com/office/drawing/2014/main" id="{8D3ADE4C-4200-C4D3-9613-A430CEED72B1}"/>
              </a:ext>
            </a:extLst>
          </p:cNvPr>
          <p:cNvCxnSpPr>
            <a:stCxn id="14" idx="2"/>
            <a:endCxn id="250" idx="0"/>
          </p:cNvCxnSpPr>
          <p:nvPr/>
        </p:nvCxnSpPr>
        <p:spPr>
          <a:xfrm flipH="1">
            <a:off x="4161799" y="2346658"/>
            <a:ext cx="1" cy="495566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01F658AF-8A13-D181-58C4-E6BAE3B2794F}"/>
              </a:ext>
            </a:extLst>
          </p:cNvPr>
          <p:cNvCxnSpPr>
            <a:stCxn id="23" idx="3"/>
            <a:endCxn id="250" idx="1"/>
          </p:cNvCxnSpPr>
          <p:nvPr/>
        </p:nvCxnSpPr>
        <p:spPr>
          <a:xfrm flipV="1">
            <a:off x="2532256" y="3092603"/>
            <a:ext cx="691733" cy="1004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Arrow Connector 241">
            <a:extLst>
              <a:ext uri="{FF2B5EF4-FFF2-40B4-BE49-F238E27FC236}">
                <a16:creationId xmlns:a16="http://schemas.microsoft.com/office/drawing/2014/main" id="{641B4CE4-34D5-E749-6CF4-17D09E5C1BF2}"/>
              </a:ext>
            </a:extLst>
          </p:cNvPr>
          <p:cNvCxnSpPr>
            <a:stCxn id="226" idx="3"/>
            <a:endCxn id="250" idx="1"/>
          </p:cNvCxnSpPr>
          <p:nvPr/>
        </p:nvCxnSpPr>
        <p:spPr>
          <a:xfrm flipV="1">
            <a:off x="2532256" y="3092603"/>
            <a:ext cx="691733" cy="796743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7AB6E178-F3B6-A95B-C1CD-C523585B7C8B}"/>
              </a:ext>
            </a:extLst>
          </p:cNvPr>
          <p:cNvCxnSpPr>
            <a:stCxn id="250" idx="2"/>
            <a:endCxn id="181" idx="0"/>
          </p:cNvCxnSpPr>
          <p:nvPr/>
        </p:nvCxnSpPr>
        <p:spPr>
          <a:xfrm>
            <a:off x="4161799" y="3342981"/>
            <a:ext cx="1" cy="1021229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DD7E9DBC-0D7F-5A9F-4F97-8CF13900572D}"/>
              </a:ext>
            </a:extLst>
          </p:cNvPr>
          <p:cNvCxnSpPr>
            <a:stCxn id="229" idx="3"/>
            <a:endCxn id="181" idx="1"/>
          </p:cNvCxnSpPr>
          <p:nvPr/>
        </p:nvCxnSpPr>
        <p:spPr>
          <a:xfrm flipV="1">
            <a:off x="2559861" y="4635291"/>
            <a:ext cx="664129" cy="3266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59FDFFEC-C665-34DC-F760-FE2CBEFA8B53}"/>
              </a:ext>
            </a:extLst>
          </p:cNvPr>
          <p:cNvCxnSpPr>
            <a:stCxn id="18" idx="3"/>
            <a:endCxn id="181" idx="1"/>
          </p:cNvCxnSpPr>
          <p:nvPr/>
        </p:nvCxnSpPr>
        <p:spPr>
          <a:xfrm flipV="1">
            <a:off x="2558967" y="4635291"/>
            <a:ext cx="665023" cy="804035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E4F6B531-9821-68DA-1ACE-48AE5CE1ED45}"/>
              </a:ext>
            </a:extLst>
          </p:cNvPr>
          <p:cNvCxnSpPr>
            <a:stCxn id="181" idx="3"/>
            <a:endCxn id="493" idx="1"/>
          </p:cNvCxnSpPr>
          <p:nvPr/>
        </p:nvCxnSpPr>
        <p:spPr>
          <a:xfrm flipV="1">
            <a:off x="5099609" y="3094546"/>
            <a:ext cx="861896" cy="1540745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71D1B72A-0B5C-CE84-9672-0510B2014BD9}"/>
              </a:ext>
            </a:extLst>
          </p:cNvPr>
          <p:cNvCxnSpPr>
            <a:stCxn id="14" idx="3"/>
            <a:endCxn id="493" idx="1"/>
          </p:cNvCxnSpPr>
          <p:nvPr/>
        </p:nvCxnSpPr>
        <p:spPr>
          <a:xfrm>
            <a:off x="5099609" y="2164289"/>
            <a:ext cx="861896" cy="930257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08204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5A310-E8B1-6529-0315-37B3574C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CF16-A622-F0F5-A69C-A58A5AF4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3" y="112854"/>
            <a:ext cx="8721779" cy="364738"/>
          </a:xfrm>
        </p:spPr>
        <p:txBody>
          <a:bodyPr/>
          <a:lstStyle/>
          <a:p>
            <a:r>
              <a:rPr lang="en-US" dirty="0"/>
              <a:t>Stress Test Automation – A. </a:t>
            </a:r>
            <a:r>
              <a:rPr lang="en-US" dirty="0" err="1"/>
              <a:t>BarraOne</a:t>
            </a:r>
            <a:r>
              <a:rPr lang="en-US" dirty="0"/>
              <a:t> Asset Impact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4BE81-E7C3-8BF7-45EF-B28AF0A1D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5</a:t>
            </a:fld>
            <a:endParaRPr lang="en-CA"/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9C0E9FF3-E6AE-CDB8-4C55-FEE66C1B3FF3}"/>
              </a:ext>
            </a:extLst>
          </p:cNvPr>
          <p:cNvSpPr/>
          <p:nvPr/>
        </p:nvSpPr>
        <p:spPr>
          <a:xfrm>
            <a:off x="258327" y="4183755"/>
            <a:ext cx="1562881" cy="459273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Asset Impact without FX shock (B1)</a:t>
            </a:r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8B309099-19AB-C80D-85EF-D32F17B00970}"/>
              </a:ext>
            </a:extLst>
          </p:cNvPr>
          <p:cNvSpPr/>
          <p:nvPr/>
        </p:nvSpPr>
        <p:spPr>
          <a:xfrm>
            <a:off x="258326" y="696701"/>
            <a:ext cx="1715087" cy="490171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Portfolio – ES Segment Mapping</a:t>
            </a:r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45378F53-F360-53D3-109A-89112BAB5557}"/>
              </a:ext>
            </a:extLst>
          </p:cNvPr>
          <p:cNvSpPr/>
          <p:nvPr/>
        </p:nvSpPr>
        <p:spPr>
          <a:xfrm>
            <a:off x="258327" y="4940365"/>
            <a:ext cx="1562881" cy="456371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Asset Impact and with FX shock (B1)</a:t>
            </a:r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F0C2EC1F-4BBF-FAB5-A235-FDBEDC81BBF2}"/>
              </a:ext>
            </a:extLst>
          </p:cNvPr>
          <p:cNvSpPr/>
          <p:nvPr/>
        </p:nvSpPr>
        <p:spPr>
          <a:xfrm>
            <a:off x="258327" y="2542135"/>
            <a:ext cx="1280246" cy="456371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1200" dirty="0">
                <a:solidFill>
                  <a:schemeClr val="tx1"/>
                </a:solidFill>
              </a:rPr>
              <a:t>GA Position (B1, Internal)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8EFDF46-470D-40C5-C364-9ECADB364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194578"/>
              </p:ext>
            </p:extLst>
          </p:nvPr>
        </p:nvGraphicFramePr>
        <p:xfrm>
          <a:off x="2026424" y="4058995"/>
          <a:ext cx="1562880" cy="12573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562880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B1 Stress P&amp;L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Initial Market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Asset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(no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(with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E54BB98-4750-7EFC-65EB-116E8397E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938833"/>
              </p:ext>
            </p:extLst>
          </p:nvPr>
        </p:nvGraphicFramePr>
        <p:xfrm>
          <a:off x="2180875" y="696701"/>
          <a:ext cx="1408429" cy="914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842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313853">
                <a:tc>
                  <a:txBody>
                    <a:bodyPr/>
                    <a:lstStyle/>
                    <a:p>
                      <a:r>
                        <a:rPr lang="en-US" sz="1050" dirty="0"/>
                        <a:t>Portfolio – ES Segment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Portfolio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1273C2-0E61-9831-D87D-47116DF9A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521668"/>
              </p:ext>
            </p:extLst>
          </p:nvPr>
        </p:nvGraphicFramePr>
        <p:xfrm>
          <a:off x="1821208" y="1894927"/>
          <a:ext cx="1768094" cy="17602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68094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B1 Reporting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Market Value (MV)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Asset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Level 2 (TAM Segment)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Level 4 (Portfolio Code)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Primary Security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58351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Adjusted 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99023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7E8F4B8-4A7E-FF5C-C7A1-A0DDB6AB9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680642"/>
              </p:ext>
            </p:extLst>
          </p:nvPr>
        </p:nvGraphicFramePr>
        <p:xfrm>
          <a:off x="4698182" y="2188757"/>
          <a:ext cx="1605728" cy="15087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05728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A. B1 Asset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Adjusted 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Initial Market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53962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(no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FX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929869"/>
                  </a:ext>
                </a:extLst>
              </a:tr>
            </a:tbl>
          </a:graphicData>
        </a:graphic>
      </p:graphicFrame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3F44699A-D71E-C1E4-7616-9C1CEC7CDFE6}"/>
              </a:ext>
            </a:extLst>
          </p:cNvPr>
          <p:cNvSpPr/>
          <p:nvPr/>
        </p:nvSpPr>
        <p:spPr>
          <a:xfrm>
            <a:off x="4698182" y="1658711"/>
            <a:ext cx="1605728" cy="364739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A. </a:t>
            </a:r>
            <a:r>
              <a:rPr lang="en-US" sz="1200" dirty="0" err="1">
                <a:solidFill>
                  <a:schemeClr val="tx1"/>
                </a:solidFill>
              </a:rPr>
              <a:t>BarraOne</a:t>
            </a:r>
            <a:r>
              <a:rPr lang="en-US" sz="1200" dirty="0">
                <a:solidFill>
                  <a:schemeClr val="tx1"/>
                </a:solidFill>
              </a:rPr>
              <a:t> Asset Impact + FX Impact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01059B-2063-BC31-260F-8BFE98A98CA3}"/>
              </a:ext>
            </a:extLst>
          </p:cNvPr>
          <p:cNvCxnSpPr>
            <a:stCxn id="25" idx="3"/>
          </p:cNvCxnSpPr>
          <p:nvPr/>
        </p:nvCxnSpPr>
        <p:spPr>
          <a:xfrm flipV="1">
            <a:off x="1973413" y="941786"/>
            <a:ext cx="207462" cy="1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6A2CF1-D42A-00D4-5458-81A495887578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1821208" y="4413391"/>
            <a:ext cx="205216" cy="1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19271B-C9D4-8990-2E64-1733E73252C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21208" y="5168551"/>
            <a:ext cx="205216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E65DBE-53AC-3827-B56E-AA731B6BB0D2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>
            <a:off x="1538573" y="2770321"/>
            <a:ext cx="282635" cy="4716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65EAF60F-B15A-0F3A-29DB-B4931118A9E3}"/>
              </a:ext>
            </a:extLst>
          </p:cNvPr>
          <p:cNvCxnSpPr>
            <a:cxnSpLocks/>
          </p:cNvCxnSpPr>
          <p:nvPr/>
        </p:nvCxnSpPr>
        <p:spPr>
          <a:xfrm>
            <a:off x="3589303" y="1493404"/>
            <a:ext cx="1108879" cy="104873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Arrow Connector 226">
            <a:extLst>
              <a:ext uri="{FF2B5EF4-FFF2-40B4-BE49-F238E27FC236}">
                <a16:creationId xmlns:a16="http://schemas.microsoft.com/office/drawing/2014/main" id="{FC2338D6-2B7B-A003-ABC0-24A32C57700F}"/>
              </a:ext>
            </a:extLst>
          </p:cNvPr>
          <p:cNvCxnSpPr>
            <a:cxnSpLocks/>
          </p:cNvCxnSpPr>
          <p:nvPr/>
        </p:nvCxnSpPr>
        <p:spPr>
          <a:xfrm flipV="1">
            <a:off x="3589302" y="3277139"/>
            <a:ext cx="1108880" cy="1698233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1E52045A-11AF-7DE7-D5D0-503E1ECA6703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3589304" y="3697517"/>
            <a:ext cx="1911742" cy="1471034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8BDB9C2C-5C08-4DA7-5BD0-075ACD206159}"/>
              </a:ext>
            </a:extLst>
          </p:cNvPr>
          <p:cNvCxnSpPr>
            <a:cxnSpLocks/>
            <a:endCxn id="15" idx="2"/>
          </p:cNvCxnSpPr>
          <p:nvPr/>
        </p:nvCxnSpPr>
        <p:spPr>
          <a:xfrm flipV="1">
            <a:off x="3589304" y="3697517"/>
            <a:ext cx="1911742" cy="1288149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16B909ED-7D08-5540-798D-092DEC0CE4A3}"/>
              </a:ext>
            </a:extLst>
          </p:cNvPr>
          <p:cNvCxnSpPr>
            <a:cxnSpLocks/>
          </p:cNvCxnSpPr>
          <p:nvPr/>
        </p:nvCxnSpPr>
        <p:spPr>
          <a:xfrm flipV="1">
            <a:off x="3589302" y="2799005"/>
            <a:ext cx="1107922" cy="687716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86" name="Table 485">
            <a:extLst>
              <a:ext uri="{FF2B5EF4-FFF2-40B4-BE49-F238E27FC236}">
                <a16:creationId xmlns:a16="http://schemas.microsoft.com/office/drawing/2014/main" id="{02803785-1A5F-381D-15F4-B1A16608F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19503"/>
              </p:ext>
            </p:extLst>
          </p:nvPr>
        </p:nvGraphicFramePr>
        <p:xfrm>
          <a:off x="7240806" y="4156216"/>
          <a:ext cx="1624922" cy="15087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624922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B1 Stress P&amp;L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Initial Market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Portfolio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Adjusted 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6067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(no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(with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</a:tbl>
          </a:graphicData>
        </a:graphic>
      </p:graphicFrame>
      <p:sp>
        <p:nvSpPr>
          <p:cNvPr id="501" name="Rectangle: Rounded Corners 500">
            <a:extLst>
              <a:ext uri="{FF2B5EF4-FFF2-40B4-BE49-F238E27FC236}">
                <a16:creationId xmlns:a16="http://schemas.microsoft.com/office/drawing/2014/main" id="{2E4108DE-1CA2-EE2C-B554-5411D7526E5B}"/>
              </a:ext>
            </a:extLst>
          </p:cNvPr>
          <p:cNvSpPr/>
          <p:nvPr/>
        </p:nvSpPr>
        <p:spPr>
          <a:xfrm>
            <a:off x="38407" y="1658711"/>
            <a:ext cx="3814194" cy="3975645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dirty="0" err="1"/>
          </a:p>
        </p:txBody>
      </p:sp>
      <p:sp>
        <p:nvSpPr>
          <p:cNvPr id="502" name="Rectangle: Rounded Corners 501">
            <a:extLst>
              <a:ext uri="{FF2B5EF4-FFF2-40B4-BE49-F238E27FC236}">
                <a16:creationId xmlns:a16="http://schemas.microsoft.com/office/drawing/2014/main" id="{00D0C94C-171E-8FAE-7E5E-F668FAD7E186}"/>
              </a:ext>
            </a:extLst>
          </p:cNvPr>
          <p:cNvSpPr/>
          <p:nvPr/>
        </p:nvSpPr>
        <p:spPr>
          <a:xfrm>
            <a:off x="5351930" y="4058995"/>
            <a:ext cx="3675530" cy="1702795"/>
          </a:xfrm>
          <a:prstGeom prst="roundRect">
            <a:avLst/>
          </a:prstGeom>
          <a:noFill/>
          <a:ln w="2540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US" dirty="0" err="1"/>
          </a:p>
        </p:txBody>
      </p:sp>
      <p:cxnSp>
        <p:nvCxnSpPr>
          <p:cNvPr id="506" name="Connector: Elbow 505">
            <a:extLst>
              <a:ext uri="{FF2B5EF4-FFF2-40B4-BE49-F238E27FC236}">
                <a16:creationId xmlns:a16="http://schemas.microsoft.com/office/drawing/2014/main" id="{F2826948-A991-1C6B-8965-97235EA8989E}"/>
              </a:ext>
            </a:extLst>
          </p:cNvPr>
          <p:cNvCxnSpPr>
            <a:cxnSpLocks/>
            <a:stCxn id="501" idx="2"/>
            <a:endCxn id="502" idx="2"/>
          </p:cNvCxnSpPr>
          <p:nvPr/>
        </p:nvCxnSpPr>
        <p:spPr>
          <a:xfrm rot="16200000" flipH="1">
            <a:off x="4503882" y="3075977"/>
            <a:ext cx="127434" cy="5244191"/>
          </a:xfrm>
          <a:prstGeom prst="bentConnector3">
            <a:avLst>
              <a:gd name="adj1" fmla="val 279387"/>
            </a:avLst>
          </a:prstGeom>
          <a:ln w="12700">
            <a:solidFill>
              <a:schemeClr val="tx1"/>
            </a:solidFill>
            <a:miter lim="800000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Flowchart: Process 508">
            <a:extLst>
              <a:ext uri="{FF2B5EF4-FFF2-40B4-BE49-F238E27FC236}">
                <a16:creationId xmlns:a16="http://schemas.microsoft.com/office/drawing/2014/main" id="{5A69BB3F-3F25-8B85-4C2C-C12B82F99CE0}"/>
              </a:ext>
            </a:extLst>
          </p:cNvPr>
          <p:cNvSpPr/>
          <p:nvPr/>
        </p:nvSpPr>
        <p:spPr>
          <a:xfrm>
            <a:off x="5447754" y="4614858"/>
            <a:ext cx="1624922" cy="590304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Portfolio – Adjusted Asset Group Stress Test Report (B1)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AF36621-1115-5A7A-CBF6-5803B7D8FC4E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5501046" y="2023450"/>
            <a:ext cx="0" cy="165307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412BEE59-5EDD-CDFE-9CAC-279EA29EE6A7}"/>
              </a:ext>
            </a:extLst>
          </p:cNvPr>
          <p:cNvCxnSpPr>
            <a:cxnSpLocks/>
          </p:cNvCxnSpPr>
          <p:nvPr/>
        </p:nvCxnSpPr>
        <p:spPr>
          <a:xfrm>
            <a:off x="3588344" y="2325305"/>
            <a:ext cx="1108880" cy="776483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3" name="Table 182">
            <a:extLst>
              <a:ext uri="{FF2B5EF4-FFF2-40B4-BE49-F238E27FC236}">
                <a16:creationId xmlns:a16="http://schemas.microsoft.com/office/drawing/2014/main" id="{FB785A58-49A9-6814-CC89-CE14F2CE7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48751"/>
              </p:ext>
            </p:extLst>
          </p:nvPr>
        </p:nvGraphicFramePr>
        <p:xfrm>
          <a:off x="6935245" y="2166239"/>
          <a:ext cx="1810292" cy="1005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10292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PE and ALDA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PE or ALDA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MV Change % without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9CB36DF4-11D9-6805-043A-C1B4C8D309B0}"/>
              </a:ext>
            </a:extLst>
          </p:cNvPr>
          <p:cNvCxnSpPr>
            <a:cxnSpLocks/>
            <a:stCxn id="509" idx="3"/>
            <a:endCxn id="486" idx="1"/>
          </p:cNvCxnSpPr>
          <p:nvPr/>
        </p:nvCxnSpPr>
        <p:spPr>
          <a:xfrm>
            <a:off x="7072676" y="4910010"/>
            <a:ext cx="168130" cy="586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Flowchart: Process 512">
            <a:extLst>
              <a:ext uri="{FF2B5EF4-FFF2-40B4-BE49-F238E27FC236}">
                <a16:creationId xmlns:a16="http://schemas.microsoft.com/office/drawing/2014/main" id="{37A78396-372F-FCCE-EBCE-DF22098EBDCA}"/>
              </a:ext>
            </a:extLst>
          </p:cNvPr>
          <p:cNvSpPr/>
          <p:nvPr/>
        </p:nvSpPr>
        <p:spPr>
          <a:xfrm>
            <a:off x="7037527" y="1658711"/>
            <a:ext cx="1605728" cy="364739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Public Equity and ALDA Shocks</a:t>
            </a:r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A90F9D6D-1AB6-7E20-C9A7-0D67456A0484}"/>
              </a:ext>
            </a:extLst>
          </p:cNvPr>
          <p:cNvCxnSpPr>
            <a:stCxn id="513" idx="2"/>
            <a:endCxn id="183" idx="0"/>
          </p:cNvCxnSpPr>
          <p:nvPr/>
        </p:nvCxnSpPr>
        <p:spPr>
          <a:xfrm>
            <a:off x="7840391" y="2023450"/>
            <a:ext cx="0" cy="142789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Straight Arrow Connector 517">
            <a:extLst>
              <a:ext uri="{FF2B5EF4-FFF2-40B4-BE49-F238E27FC236}">
                <a16:creationId xmlns:a16="http://schemas.microsoft.com/office/drawing/2014/main" id="{EA558035-BCCE-C265-DF29-09374AE79429}"/>
              </a:ext>
            </a:extLst>
          </p:cNvPr>
          <p:cNvCxnSpPr/>
          <p:nvPr/>
        </p:nvCxnSpPr>
        <p:spPr>
          <a:xfrm>
            <a:off x="6303910" y="2554941"/>
            <a:ext cx="631335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Straight Arrow Connector 519">
            <a:extLst>
              <a:ext uri="{FF2B5EF4-FFF2-40B4-BE49-F238E27FC236}">
                <a16:creationId xmlns:a16="http://schemas.microsoft.com/office/drawing/2014/main" id="{A85051A6-CC8C-FC78-B3E2-F616A6F1D12A}"/>
              </a:ext>
            </a:extLst>
          </p:cNvPr>
          <p:cNvCxnSpPr/>
          <p:nvPr/>
        </p:nvCxnSpPr>
        <p:spPr>
          <a:xfrm flipV="1">
            <a:off x="6303910" y="3023186"/>
            <a:ext cx="631335" cy="320649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A3BC457D-0B2F-EF77-A147-B0323FB1F549}"/>
              </a:ext>
            </a:extLst>
          </p:cNvPr>
          <p:cNvCxnSpPr/>
          <p:nvPr/>
        </p:nvCxnSpPr>
        <p:spPr>
          <a:xfrm>
            <a:off x="6303910" y="3023186"/>
            <a:ext cx="631335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TextBox 523">
            <a:extLst>
              <a:ext uri="{FF2B5EF4-FFF2-40B4-BE49-F238E27FC236}">
                <a16:creationId xmlns:a16="http://schemas.microsoft.com/office/drawing/2014/main" id="{D85902A6-55E6-F607-0185-3253CDB80496}"/>
              </a:ext>
            </a:extLst>
          </p:cNvPr>
          <p:cNvSpPr txBox="1"/>
          <p:nvPr/>
        </p:nvSpPr>
        <p:spPr>
          <a:xfrm>
            <a:off x="1973414" y="6006991"/>
            <a:ext cx="5267392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</a:pPr>
            <a:r>
              <a:rPr lang="en-US" sz="1100" dirty="0" err="1"/>
              <a:t>BarraOne</a:t>
            </a:r>
            <a:r>
              <a:rPr lang="en-US" sz="1100" dirty="0"/>
              <a:t> stress test results are needed at either position level or portfolio – adjusted asset group level. </a:t>
            </a:r>
          </a:p>
        </p:txBody>
      </p: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9DFE33BC-0E19-502B-68CC-FCFB3DA99D14}"/>
              </a:ext>
            </a:extLst>
          </p:cNvPr>
          <p:cNvGrpSpPr/>
          <p:nvPr/>
        </p:nvGrpSpPr>
        <p:grpSpPr>
          <a:xfrm>
            <a:off x="4782194" y="535806"/>
            <a:ext cx="3963343" cy="260532"/>
            <a:chOff x="180094" y="6062888"/>
            <a:chExt cx="3963343" cy="260532"/>
          </a:xfrm>
        </p:grpSpPr>
        <p:sp>
          <p:nvSpPr>
            <p:cNvPr id="531" name="Flowchart: Process 530">
              <a:extLst>
                <a:ext uri="{FF2B5EF4-FFF2-40B4-BE49-F238E27FC236}">
                  <a16:creationId xmlns:a16="http://schemas.microsoft.com/office/drawing/2014/main" id="{CADFBF75-8C78-354D-B02A-51F9A41C7C78}"/>
                </a:ext>
              </a:extLst>
            </p:cNvPr>
            <p:cNvSpPr/>
            <p:nvPr/>
          </p:nvSpPr>
          <p:spPr>
            <a:xfrm>
              <a:off x="180094" y="6062889"/>
              <a:ext cx="968216" cy="26053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Input (Source)</a:t>
              </a:r>
            </a:p>
          </p:txBody>
        </p:sp>
        <p:sp>
          <p:nvSpPr>
            <p:cNvPr id="532" name="Flowchart: Process 531">
              <a:extLst>
                <a:ext uri="{FF2B5EF4-FFF2-40B4-BE49-F238E27FC236}">
                  <a16:creationId xmlns:a16="http://schemas.microsoft.com/office/drawing/2014/main" id="{48F0F806-A8D9-69B1-BAE4-4D0F00A90EAC}"/>
                </a:ext>
              </a:extLst>
            </p:cNvPr>
            <p:cNvSpPr/>
            <p:nvPr/>
          </p:nvSpPr>
          <p:spPr>
            <a:xfrm>
              <a:off x="1147352" y="6062888"/>
              <a:ext cx="1213673" cy="26053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b="1" dirty="0">
                  <a:solidFill>
                    <a:srgbClr val="FF0000"/>
                  </a:solidFill>
                </a:rPr>
                <a:t>Join Key</a:t>
              </a:r>
            </a:p>
          </p:txBody>
        </p:sp>
        <p:sp>
          <p:nvSpPr>
            <p:cNvPr id="533" name="Flowchart: Process 532">
              <a:extLst>
                <a:ext uri="{FF2B5EF4-FFF2-40B4-BE49-F238E27FC236}">
                  <a16:creationId xmlns:a16="http://schemas.microsoft.com/office/drawing/2014/main" id="{9F6D1F29-98CC-0132-DB8C-21C64F149004}"/>
                </a:ext>
              </a:extLst>
            </p:cNvPr>
            <p:cNvSpPr/>
            <p:nvPr/>
          </p:nvSpPr>
          <p:spPr>
            <a:xfrm>
              <a:off x="2115567" y="6062888"/>
              <a:ext cx="2027870" cy="260531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Intermediate Data / Output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8493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8D0C-CAE1-D961-A029-00CEF499C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3322-6680-2F36-1ED3-61972081D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57" y="283023"/>
            <a:ext cx="8347076" cy="441962"/>
          </a:xfrm>
        </p:spPr>
        <p:txBody>
          <a:bodyPr/>
          <a:lstStyle/>
          <a:p>
            <a:r>
              <a:rPr lang="en-US" dirty="0"/>
              <a:t>A. </a:t>
            </a:r>
            <a:r>
              <a:rPr lang="en-US" dirty="0" err="1"/>
              <a:t>BarraOne</a:t>
            </a:r>
            <a:r>
              <a:rPr lang="en-US" dirty="0"/>
              <a:t> Asset Impact – Sample Stress Test Report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A903F-B448-ECEE-A106-6FB67323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6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3BA81-F469-9B8D-93E9-81BF6E2DCA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D941A1B-C908-9A66-3CDA-DF40938ED5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76" y="1100346"/>
            <a:ext cx="9075048" cy="4117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792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B92C-2A54-4456-1B6D-849694B65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890B2-B821-204C-65DA-FB14FAC1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57" y="283023"/>
            <a:ext cx="8347076" cy="441962"/>
          </a:xfrm>
        </p:spPr>
        <p:txBody>
          <a:bodyPr/>
          <a:lstStyle/>
          <a:p>
            <a:r>
              <a:rPr lang="en-US" dirty="0"/>
              <a:t>A. </a:t>
            </a:r>
            <a:r>
              <a:rPr lang="en-US" dirty="0" err="1"/>
              <a:t>BarraOne</a:t>
            </a:r>
            <a:r>
              <a:rPr lang="en-US" dirty="0"/>
              <a:t> Asset Impact – Sample Segment Impact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68FB9-66C1-FB9D-CC6B-5A045A67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81393-7A90-9BC8-6CFC-CAD678F662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F4CCB9-4BB6-4DCA-DED4-43A9627D8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914" y="847956"/>
            <a:ext cx="6574232" cy="519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8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B2566-6F72-420A-608E-F10CCE620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1387-B3E9-CB61-7BE5-0143B3E5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3" y="112854"/>
            <a:ext cx="8721779" cy="364738"/>
          </a:xfrm>
        </p:spPr>
        <p:txBody>
          <a:bodyPr/>
          <a:lstStyle/>
          <a:p>
            <a:r>
              <a:rPr lang="en-US" dirty="0"/>
              <a:t>Stress Test Automation – B. Shock Conversion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778D0-78FC-64B7-8468-E586A8D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8</a:t>
            </a:fld>
            <a:endParaRPr lang="en-CA"/>
          </a:p>
        </p:txBody>
      </p: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21D5B978-A323-8D13-1BE1-1A841F9B42F4}"/>
              </a:ext>
            </a:extLst>
          </p:cNvPr>
          <p:cNvGrpSpPr/>
          <p:nvPr/>
        </p:nvGrpSpPr>
        <p:grpSpPr>
          <a:xfrm>
            <a:off x="4784607" y="568543"/>
            <a:ext cx="3963343" cy="260532"/>
            <a:chOff x="180094" y="6062888"/>
            <a:chExt cx="3963343" cy="260532"/>
          </a:xfrm>
        </p:grpSpPr>
        <p:sp>
          <p:nvSpPr>
            <p:cNvPr id="531" name="Flowchart: Process 530">
              <a:extLst>
                <a:ext uri="{FF2B5EF4-FFF2-40B4-BE49-F238E27FC236}">
                  <a16:creationId xmlns:a16="http://schemas.microsoft.com/office/drawing/2014/main" id="{20988DF0-3F1C-F60A-1D25-CB97E8C52F25}"/>
                </a:ext>
              </a:extLst>
            </p:cNvPr>
            <p:cNvSpPr/>
            <p:nvPr/>
          </p:nvSpPr>
          <p:spPr>
            <a:xfrm>
              <a:off x="180094" y="6062889"/>
              <a:ext cx="968216" cy="26053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Input (Source)</a:t>
              </a:r>
            </a:p>
          </p:txBody>
        </p:sp>
        <p:sp>
          <p:nvSpPr>
            <p:cNvPr id="532" name="Flowchart: Process 531">
              <a:extLst>
                <a:ext uri="{FF2B5EF4-FFF2-40B4-BE49-F238E27FC236}">
                  <a16:creationId xmlns:a16="http://schemas.microsoft.com/office/drawing/2014/main" id="{5B2224EE-1A8E-65E8-CFC9-0E9B35C1AED3}"/>
                </a:ext>
              </a:extLst>
            </p:cNvPr>
            <p:cNvSpPr/>
            <p:nvPr/>
          </p:nvSpPr>
          <p:spPr>
            <a:xfrm>
              <a:off x="1147352" y="6062888"/>
              <a:ext cx="1213673" cy="26053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b="1" dirty="0">
                  <a:solidFill>
                    <a:srgbClr val="FF0000"/>
                  </a:solidFill>
                </a:rPr>
                <a:t>Join Key</a:t>
              </a:r>
            </a:p>
          </p:txBody>
        </p:sp>
        <p:sp>
          <p:nvSpPr>
            <p:cNvPr id="533" name="Flowchart: Process 532">
              <a:extLst>
                <a:ext uri="{FF2B5EF4-FFF2-40B4-BE49-F238E27FC236}">
                  <a16:creationId xmlns:a16="http://schemas.microsoft.com/office/drawing/2014/main" id="{04CCE4ED-85C4-A257-EAD3-3C9918BB2F75}"/>
                </a:ext>
              </a:extLst>
            </p:cNvPr>
            <p:cNvSpPr/>
            <p:nvPr/>
          </p:nvSpPr>
          <p:spPr>
            <a:xfrm>
              <a:off x="2115567" y="6062888"/>
              <a:ext cx="2027870" cy="260531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Intermediate Data / Output</a:t>
              </a:r>
            </a:p>
          </p:txBody>
        </p:sp>
      </p:grp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FF44EDE2-FC30-9186-98FC-A0C190D0854A}"/>
              </a:ext>
            </a:extLst>
          </p:cNvPr>
          <p:cNvSpPr/>
          <p:nvPr/>
        </p:nvSpPr>
        <p:spPr>
          <a:xfrm>
            <a:off x="58628" y="4095770"/>
            <a:ext cx="1493879" cy="490170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Stress Scenario IR and FX Shocks (B1)</a:t>
            </a:r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CEB6BAF-7857-7E4A-546E-AEC980490CC5}"/>
              </a:ext>
            </a:extLst>
          </p:cNvPr>
          <p:cNvSpPr/>
          <p:nvPr/>
        </p:nvSpPr>
        <p:spPr>
          <a:xfrm>
            <a:off x="6937971" y="1791073"/>
            <a:ext cx="1575778" cy="500757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B. Shock factors for sensitivity blending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663F8D7F-0E38-3262-5628-6DF134C82886}"/>
              </a:ext>
            </a:extLst>
          </p:cNvPr>
          <p:cNvSpPr/>
          <p:nvPr/>
        </p:nvSpPr>
        <p:spPr>
          <a:xfrm>
            <a:off x="65980" y="2396002"/>
            <a:ext cx="1493879" cy="661174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B1 Scenario Shock – ES Sensitivity Mapping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DC91785-B45E-9AB4-23A6-ABA5BCA77EAC}"/>
              </a:ext>
            </a:extLst>
          </p:cNvPr>
          <p:cNvCxnSpPr>
            <a:cxnSpLocks/>
            <a:stCxn id="242" idx="0"/>
            <a:endCxn id="29" idx="4"/>
          </p:cNvCxnSpPr>
          <p:nvPr/>
        </p:nvCxnSpPr>
        <p:spPr>
          <a:xfrm flipV="1">
            <a:off x="4741501" y="4209256"/>
            <a:ext cx="0" cy="83611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883081DF-859A-17B6-2895-5FD4CD620903}"/>
              </a:ext>
            </a:extLst>
          </p:cNvPr>
          <p:cNvSpPr/>
          <p:nvPr/>
        </p:nvSpPr>
        <p:spPr>
          <a:xfrm>
            <a:off x="4586231" y="3920186"/>
            <a:ext cx="310540" cy="28907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graphicFrame>
        <p:nvGraphicFramePr>
          <p:cNvPr id="226" name="Table 225">
            <a:extLst>
              <a:ext uri="{FF2B5EF4-FFF2-40B4-BE49-F238E27FC236}">
                <a16:creationId xmlns:a16="http://schemas.microsoft.com/office/drawing/2014/main" id="{6146819D-E346-7B55-F2FD-143DFBA0A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932720"/>
              </p:ext>
            </p:extLst>
          </p:nvPr>
        </p:nvGraphicFramePr>
        <p:xfrm>
          <a:off x="1781066" y="3757925"/>
          <a:ext cx="1400429" cy="11658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042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88191">
                <a:tc>
                  <a:txBody>
                    <a:bodyPr/>
                    <a:lstStyle/>
                    <a:p>
                      <a:r>
                        <a:rPr lang="en-US" sz="1050" dirty="0"/>
                        <a:t>B1 Scenario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B1 Shock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dirty="0"/>
                        <a:t>Shock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dirty="0"/>
                        <a:t>Shock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</a:tbl>
          </a:graphicData>
        </a:graphic>
      </p:graphicFrame>
      <p:graphicFrame>
        <p:nvGraphicFramePr>
          <p:cNvPr id="228" name="Table 227">
            <a:extLst>
              <a:ext uri="{FF2B5EF4-FFF2-40B4-BE49-F238E27FC236}">
                <a16:creationId xmlns:a16="http://schemas.microsoft.com/office/drawing/2014/main" id="{6C00CA4B-BF7F-D90F-E4D5-AF058024E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02051"/>
              </p:ext>
            </p:extLst>
          </p:nvPr>
        </p:nvGraphicFramePr>
        <p:xfrm>
          <a:off x="1770278" y="1857909"/>
          <a:ext cx="1418570" cy="15773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18570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B1SceShock-ES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B1 Shock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49440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Detailed 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054112"/>
                  </a:ext>
                </a:extLst>
              </a:tr>
            </a:tbl>
          </a:graphicData>
        </a:graphic>
      </p:graphicFrame>
      <p:sp>
        <p:nvSpPr>
          <p:cNvPr id="229" name="Flowchart: Process 228">
            <a:extLst>
              <a:ext uri="{FF2B5EF4-FFF2-40B4-BE49-F238E27FC236}">
                <a16:creationId xmlns:a16="http://schemas.microsoft.com/office/drawing/2014/main" id="{67F1F6DD-B3DB-C675-0585-8758AA7013BE}"/>
              </a:ext>
            </a:extLst>
          </p:cNvPr>
          <p:cNvSpPr/>
          <p:nvPr/>
        </p:nvSpPr>
        <p:spPr>
          <a:xfrm>
            <a:off x="65979" y="918344"/>
            <a:ext cx="1493879" cy="448014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ES Segment Mapping</a:t>
            </a:r>
          </a:p>
        </p:txBody>
      </p:sp>
      <p:graphicFrame>
        <p:nvGraphicFramePr>
          <p:cNvPr id="230" name="Table 229">
            <a:extLst>
              <a:ext uri="{FF2B5EF4-FFF2-40B4-BE49-F238E27FC236}">
                <a16:creationId xmlns:a16="http://schemas.microsoft.com/office/drawing/2014/main" id="{CE92F655-5978-6556-EEA4-139C9697E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4216859"/>
              </p:ext>
            </p:extLst>
          </p:nvPr>
        </p:nvGraphicFramePr>
        <p:xfrm>
          <a:off x="1788419" y="559421"/>
          <a:ext cx="1400430" cy="11658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0430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81503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</a:tbl>
          </a:graphicData>
        </a:graphic>
      </p:graphicFrame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0809237C-D83B-11B7-DEF3-613AC62FE4E2}"/>
              </a:ext>
            </a:extLst>
          </p:cNvPr>
          <p:cNvCxnSpPr>
            <a:cxnSpLocks/>
            <a:stCxn id="3" idx="3"/>
            <a:endCxn id="226" idx="1"/>
          </p:cNvCxnSpPr>
          <p:nvPr/>
        </p:nvCxnSpPr>
        <p:spPr>
          <a:xfrm>
            <a:off x="1552507" y="4340855"/>
            <a:ext cx="228559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4D2E83F-E0D5-8459-45A5-06B2C64B396F}"/>
              </a:ext>
            </a:extLst>
          </p:cNvPr>
          <p:cNvCxnSpPr>
            <a:cxnSpLocks/>
            <a:stCxn id="6" idx="3"/>
            <a:endCxn id="228" idx="1"/>
          </p:cNvCxnSpPr>
          <p:nvPr/>
        </p:nvCxnSpPr>
        <p:spPr>
          <a:xfrm flipV="1">
            <a:off x="1559859" y="2646579"/>
            <a:ext cx="210419" cy="8001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E9AFABA1-08F3-061A-6ABD-D98631D98FB7}"/>
              </a:ext>
            </a:extLst>
          </p:cNvPr>
          <p:cNvCxnSpPr>
            <a:cxnSpLocks/>
            <a:stCxn id="229" idx="3"/>
            <a:endCxn id="230" idx="1"/>
          </p:cNvCxnSpPr>
          <p:nvPr/>
        </p:nvCxnSpPr>
        <p:spPr>
          <a:xfrm>
            <a:off x="1559858" y="1142351"/>
            <a:ext cx="228561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07A7F7AB-DEC1-7D67-872C-CDF927102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925327"/>
              </p:ext>
            </p:extLst>
          </p:nvPr>
        </p:nvGraphicFramePr>
        <p:xfrm>
          <a:off x="6879167" y="2628614"/>
          <a:ext cx="1693385" cy="11658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93385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B. ES Blending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 +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Blending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graphicFrame>
        <p:nvGraphicFramePr>
          <p:cNvPr id="241" name="Table 240">
            <a:extLst>
              <a:ext uri="{FF2B5EF4-FFF2-40B4-BE49-F238E27FC236}">
                <a16:creationId xmlns:a16="http://schemas.microsoft.com/office/drawing/2014/main" id="{F0D4E60A-2151-8B8C-0771-4ABEFE8D6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84389"/>
              </p:ext>
            </p:extLst>
          </p:nvPr>
        </p:nvGraphicFramePr>
        <p:xfrm>
          <a:off x="3836355" y="4800395"/>
          <a:ext cx="1810292" cy="11658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10292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PE and ALDA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Sensitivity Type (PE or ALDA)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MV Change % without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sp>
        <p:nvSpPr>
          <p:cNvPr id="242" name="Flowchart: Process 241">
            <a:extLst>
              <a:ext uri="{FF2B5EF4-FFF2-40B4-BE49-F238E27FC236}">
                <a16:creationId xmlns:a16="http://schemas.microsoft.com/office/drawing/2014/main" id="{F6A317EB-8B5F-385C-EEBD-3A7007D204C2}"/>
              </a:ext>
            </a:extLst>
          </p:cNvPr>
          <p:cNvSpPr/>
          <p:nvPr/>
        </p:nvSpPr>
        <p:spPr>
          <a:xfrm>
            <a:off x="3938637" y="4292867"/>
            <a:ext cx="1605728" cy="364739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Public Equity and ALDA Shocks</a:t>
            </a:r>
          </a:p>
        </p:txBody>
      </p: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8A87620E-1A08-1365-6DB7-6A0C1349CBBA}"/>
              </a:ext>
            </a:extLst>
          </p:cNvPr>
          <p:cNvCxnSpPr>
            <a:cxnSpLocks/>
            <a:stCxn id="242" idx="2"/>
            <a:endCxn id="241" idx="0"/>
          </p:cNvCxnSpPr>
          <p:nvPr/>
        </p:nvCxnSpPr>
        <p:spPr>
          <a:xfrm>
            <a:off x="4741501" y="4657606"/>
            <a:ext cx="0" cy="142789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0" name="Table 249">
            <a:extLst>
              <a:ext uri="{FF2B5EF4-FFF2-40B4-BE49-F238E27FC236}">
                <a16:creationId xmlns:a16="http://schemas.microsoft.com/office/drawing/2014/main" id="{BAFA5E3F-A851-A7A0-A6C5-DA36F0F8A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302604"/>
              </p:ext>
            </p:extLst>
          </p:nvPr>
        </p:nvGraphicFramePr>
        <p:xfrm>
          <a:off x="3912060" y="1629007"/>
          <a:ext cx="1658883" cy="1417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58883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IR and FX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Sensitivity Type (RF, CS, SS) or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Shock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9043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Shock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043678"/>
                  </a:ext>
                </a:extLst>
              </a:tr>
            </a:tbl>
          </a:graphicData>
        </a:graphic>
      </p:graphicFrame>
      <p:sp>
        <p:nvSpPr>
          <p:cNvPr id="251" name="Flowchart: Process 250">
            <a:extLst>
              <a:ext uri="{FF2B5EF4-FFF2-40B4-BE49-F238E27FC236}">
                <a16:creationId xmlns:a16="http://schemas.microsoft.com/office/drawing/2014/main" id="{149034A9-33FA-E293-0124-9FFCBAC11570}"/>
              </a:ext>
            </a:extLst>
          </p:cNvPr>
          <p:cNvSpPr/>
          <p:nvPr/>
        </p:nvSpPr>
        <p:spPr>
          <a:xfrm>
            <a:off x="3938637" y="1096291"/>
            <a:ext cx="1605728" cy="364739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Interest Rate (IR) and FX Shocks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7C8552B4-7853-FDAF-EDBB-D32DFDE86E56}"/>
              </a:ext>
            </a:extLst>
          </p:cNvPr>
          <p:cNvCxnSpPr>
            <a:cxnSpLocks/>
            <a:stCxn id="251" idx="2"/>
            <a:endCxn id="250" idx="0"/>
          </p:cNvCxnSpPr>
          <p:nvPr/>
        </p:nvCxnSpPr>
        <p:spPr>
          <a:xfrm>
            <a:off x="4741501" y="1461030"/>
            <a:ext cx="0" cy="167977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90533A19-7754-FDD8-2141-71B0678AE786}"/>
              </a:ext>
            </a:extLst>
          </p:cNvPr>
          <p:cNvCxnSpPr>
            <a:cxnSpLocks/>
            <a:stCxn id="230" idx="3"/>
          </p:cNvCxnSpPr>
          <p:nvPr/>
        </p:nvCxnSpPr>
        <p:spPr>
          <a:xfrm>
            <a:off x="3188849" y="1142351"/>
            <a:ext cx="723210" cy="837849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73DB3A78-8336-CBD5-883C-F904A6CF06E0}"/>
              </a:ext>
            </a:extLst>
          </p:cNvPr>
          <p:cNvCxnSpPr>
            <a:cxnSpLocks/>
            <a:stCxn id="226" idx="3"/>
            <a:endCxn id="250" idx="2"/>
          </p:cNvCxnSpPr>
          <p:nvPr/>
        </p:nvCxnSpPr>
        <p:spPr>
          <a:xfrm flipV="1">
            <a:off x="3181495" y="3046327"/>
            <a:ext cx="1560006" cy="1294528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AF757EEF-5C41-9EAA-6430-6BEDBED2B676}"/>
              </a:ext>
            </a:extLst>
          </p:cNvPr>
          <p:cNvCxnSpPr>
            <a:cxnSpLocks/>
            <a:stCxn id="228" idx="3"/>
            <a:endCxn id="250" idx="1"/>
          </p:cNvCxnSpPr>
          <p:nvPr/>
        </p:nvCxnSpPr>
        <p:spPr>
          <a:xfrm flipV="1">
            <a:off x="3188848" y="2337667"/>
            <a:ext cx="723212" cy="308912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7" name="Straight Arrow Connector 536">
            <a:extLst>
              <a:ext uri="{FF2B5EF4-FFF2-40B4-BE49-F238E27FC236}">
                <a16:creationId xmlns:a16="http://schemas.microsoft.com/office/drawing/2014/main" id="{F65507A8-D608-9EC6-870D-B90B09589B6F}"/>
              </a:ext>
            </a:extLst>
          </p:cNvPr>
          <p:cNvCxnSpPr>
            <a:cxnSpLocks/>
            <a:stCxn id="250" idx="3"/>
            <a:endCxn id="240" idx="1"/>
          </p:cNvCxnSpPr>
          <p:nvPr/>
        </p:nvCxnSpPr>
        <p:spPr>
          <a:xfrm>
            <a:off x="5570943" y="2337667"/>
            <a:ext cx="1308224" cy="873877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9" name="Straight Arrow Connector 538">
            <a:extLst>
              <a:ext uri="{FF2B5EF4-FFF2-40B4-BE49-F238E27FC236}">
                <a16:creationId xmlns:a16="http://schemas.microsoft.com/office/drawing/2014/main" id="{25F355B2-4F2A-7C87-F98E-F2A00A5AC04C}"/>
              </a:ext>
            </a:extLst>
          </p:cNvPr>
          <p:cNvCxnSpPr>
            <a:cxnSpLocks/>
            <a:stCxn id="241" idx="3"/>
            <a:endCxn id="240" idx="1"/>
          </p:cNvCxnSpPr>
          <p:nvPr/>
        </p:nvCxnSpPr>
        <p:spPr>
          <a:xfrm flipV="1">
            <a:off x="5646647" y="3211544"/>
            <a:ext cx="1232520" cy="217178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Arrow Connector 542">
            <a:extLst>
              <a:ext uri="{FF2B5EF4-FFF2-40B4-BE49-F238E27FC236}">
                <a16:creationId xmlns:a16="http://schemas.microsoft.com/office/drawing/2014/main" id="{E7CCE36E-D988-98EF-6149-4BC3BF767633}"/>
              </a:ext>
            </a:extLst>
          </p:cNvPr>
          <p:cNvCxnSpPr>
            <a:cxnSpLocks/>
            <a:endCxn id="240" idx="1"/>
          </p:cNvCxnSpPr>
          <p:nvPr/>
        </p:nvCxnSpPr>
        <p:spPr>
          <a:xfrm flipV="1">
            <a:off x="3188849" y="3211544"/>
            <a:ext cx="3690318" cy="10128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F97AB41-0DCD-2913-161C-903FD4079089}"/>
              </a:ext>
            </a:extLst>
          </p:cNvPr>
          <p:cNvCxnSpPr>
            <a:stCxn id="5" idx="2"/>
            <a:endCxn id="240" idx="0"/>
          </p:cNvCxnSpPr>
          <p:nvPr/>
        </p:nvCxnSpPr>
        <p:spPr>
          <a:xfrm flipH="1">
            <a:off x="7725859" y="2291830"/>
            <a:ext cx="1" cy="336784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60881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9B8A-7398-88D1-37C5-D25CD13B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809B-DBF4-A5C9-E7AC-53B3CB5E7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57" y="283023"/>
            <a:ext cx="8347076" cy="441962"/>
          </a:xfrm>
        </p:spPr>
        <p:txBody>
          <a:bodyPr/>
          <a:lstStyle/>
          <a:p>
            <a:r>
              <a:rPr lang="en-US" dirty="0"/>
              <a:t>B. Shock Conversion – Sample </a:t>
            </a:r>
            <a:r>
              <a:rPr lang="en-US" dirty="0" err="1"/>
              <a:t>BarraOne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3CAB2-642E-81BC-C398-168261BD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F7844-01F0-7993-CB24-40D3F93231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CCED2F-32C2-7497-27A2-4CB9E4F74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725" y="964386"/>
            <a:ext cx="7161712" cy="458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2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96DBC-3E2F-A661-AB85-316EB289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57" y="283023"/>
            <a:ext cx="8347076" cy="441962"/>
          </a:xfrm>
        </p:spPr>
        <p:txBody>
          <a:bodyPr/>
          <a:lstStyle/>
          <a:p>
            <a:r>
              <a:rPr lang="en-US" dirty="0"/>
              <a:t>B. Shock Conversion – ES Sensitivity Type and Sample Shocks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4386426-254C-EDCC-C872-63E0AD97C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0836662"/>
              </p:ext>
            </p:extLst>
          </p:nvPr>
        </p:nvGraphicFramePr>
        <p:xfrm>
          <a:off x="398457" y="1216685"/>
          <a:ext cx="7598055" cy="430061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519611">
                  <a:extLst>
                    <a:ext uri="{9D8B030D-6E8A-4147-A177-3AD203B41FA5}">
                      <a16:colId xmlns:a16="http://schemas.microsoft.com/office/drawing/2014/main" val="2376849923"/>
                    </a:ext>
                  </a:extLst>
                </a:gridCol>
                <a:gridCol w="1519611">
                  <a:extLst>
                    <a:ext uri="{9D8B030D-6E8A-4147-A177-3AD203B41FA5}">
                      <a16:colId xmlns:a16="http://schemas.microsoft.com/office/drawing/2014/main" val="1866621771"/>
                    </a:ext>
                  </a:extLst>
                </a:gridCol>
                <a:gridCol w="1519611">
                  <a:extLst>
                    <a:ext uri="{9D8B030D-6E8A-4147-A177-3AD203B41FA5}">
                      <a16:colId xmlns:a16="http://schemas.microsoft.com/office/drawing/2014/main" val="1178351873"/>
                    </a:ext>
                  </a:extLst>
                </a:gridCol>
                <a:gridCol w="1519611">
                  <a:extLst>
                    <a:ext uri="{9D8B030D-6E8A-4147-A177-3AD203B41FA5}">
                      <a16:colId xmlns:a16="http://schemas.microsoft.com/office/drawing/2014/main" val="3733712865"/>
                    </a:ext>
                  </a:extLst>
                </a:gridCol>
                <a:gridCol w="1519611">
                  <a:extLst>
                    <a:ext uri="{9D8B030D-6E8A-4147-A177-3AD203B41FA5}">
                      <a16:colId xmlns:a16="http://schemas.microsoft.com/office/drawing/2014/main" val="2211277756"/>
                    </a:ext>
                  </a:extLst>
                </a:gridCol>
              </a:tblGrid>
              <a:tr h="280801">
                <a:tc>
                  <a:txBody>
                    <a:bodyPr/>
                    <a:lstStyle/>
                    <a:p>
                      <a:r>
                        <a:rPr lang="en-US" sz="1400" dirty="0"/>
                        <a:t>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Shock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Shock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80865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38805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579667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607607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028847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45189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387824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966670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47860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716278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ALDA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730650"/>
                  </a:ext>
                </a:extLst>
              </a:tr>
              <a:tr h="326429">
                <a:tc>
                  <a:txBody>
                    <a:bodyPr/>
                    <a:lstStyle/>
                    <a:p>
                      <a:r>
                        <a:rPr lang="en-US" sz="1400" dirty="0"/>
                        <a:t>FX (base currency = CAD)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18928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3609F-9349-E779-187F-70C028FB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10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07503A-D524-BB09-DD10-FC6D8060F3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9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E267-159B-48DD-93E4-3483E471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1982B-7E5B-7830-9C2F-15FD58D3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66" y="250850"/>
            <a:ext cx="8521415" cy="441962"/>
          </a:xfrm>
        </p:spPr>
        <p:txBody>
          <a:bodyPr/>
          <a:lstStyle/>
          <a:p>
            <a:r>
              <a:rPr lang="en-US" dirty="0"/>
              <a:t>B. Shock Conversion – ES Sensitivity Factor Conversion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2F43E-55F8-8C33-0A35-1BFFD349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11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198C0-1C02-A23F-E191-F9024E9689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285357CA-43B1-0F8C-5124-A7E7D1F01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9493039"/>
              </p:ext>
            </p:extLst>
          </p:nvPr>
        </p:nvGraphicFramePr>
        <p:xfrm>
          <a:off x="242047" y="943824"/>
          <a:ext cx="8397255" cy="44805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460008">
                  <a:extLst>
                    <a:ext uri="{9D8B030D-6E8A-4147-A177-3AD203B41FA5}">
                      <a16:colId xmlns:a16="http://schemas.microsoft.com/office/drawing/2014/main" val="2376849923"/>
                    </a:ext>
                  </a:extLst>
                </a:gridCol>
                <a:gridCol w="705254">
                  <a:extLst>
                    <a:ext uri="{9D8B030D-6E8A-4147-A177-3AD203B41FA5}">
                      <a16:colId xmlns:a16="http://schemas.microsoft.com/office/drawing/2014/main" val="1178351873"/>
                    </a:ext>
                  </a:extLst>
                </a:gridCol>
                <a:gridCol w="1101709">
                  <a:extLst>
                    <a:ext uri="{9D8B030D-6E8A-4147-A177-3AD203B41FA5}">
                      <a16:colId xmlns:a16="http://schemas.microsoft.com/office/drawing/2014/main" val="3733712865"/>
                    </a:ext>
                  </a:extLst>
                </a:gridCol>
                <a:gridCol w="2784350">
                  <a:extLst>
                    <a:ext uri="{9D8B030D-6E8A-4147-A177-3AD203B41FA5}">
                      <a16:colId xmlns:a16="http://schemas.microsoft.com/office/drawing/2014/main" val="2211277756"/>
                    </a:ext>
                  </a:extLst>
                </a:gridCol>
                <a:gridCol w="2345934">
                  <a:extLst>
                    <a:ext uri="{9D8B030D-6E8A-4147-A177-3AD203B41FA5}">
                      <a16:colId xmlns:a16="http://schemas.microsoft.com/office/drawing/2014/main" val="743324713"/>
                    </a:ext>
                  </a:extLst>
                </a:gridCol>
              </a:tblGrid>
              <a:tr h="358751">
                <a:tc>
                  <a:txBody>
                    <a:bodyPr/>
                    <a:lstStyle/>
                    <a:p>
                      <a:r>
                        <a:rPr lang="en-US" sz="1400" dirty="0"/>
                        <a:t>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Detailed 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Converted Shock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80865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-90bps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RF-50bps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607607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-90bps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RF+50bps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028847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-90bps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RF-100bps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10432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-90bps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RF+100bps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45189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CS+50bps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96667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CS-50bps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489322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SS+20bps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4786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-20bps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SS-20bps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091851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716278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43663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PE+10%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311263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ALDA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ALDA-10%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73065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ALDA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-5%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ALDA+10%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6960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90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70FBC-4DC8-4310-1516-030E13C1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9F12-4639-904E-4615-5AFF874F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3" y="112854"/>
            <a:ext cx="8721779" cy="364738"/>
          </a:xfrm>
        </p:spPr>
        <p:txBody>
          <a:bodyPr/>
          <a:lstStyle/>
          <a:p>
            <a:r>
              <a:rPr lang="en-US" dirty="0"/>
              <a:t>Stress Test Automation – C. ES-based Liability/Net Impact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7CDB9-9533-BAB8-EA26-C340E224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12</a:t>
            </a:fld>
            <a:endParaRPr lang="en-CA"/>
          </a:p>
        </p:txBody>
      </p:sp>
      <p:grpSp>
        <p:nvGrpSpPr>
          <p:cNvPr id="530" name="Group 529">
            <a:extLst>
              <a:ext uri="{FF2B5EF4-FFF2-40B4-BE49-F238E27FC236}">
                <a16:creationId xmlns:a16="http://schemas.microsoft.com/office/drawing/2014/main" id="{A22B5F02-07FE-D7C4-2963-F54B3468A503}"/>
              </a:ext>
            </a:extLst>
          </p:cNvPr>
          <p:cNvGrpSpPr/>
          <p:nvPr/>
        </p:nvGrpSpPr>
        <p:grpSpPr>
          <a:xfrm>
            <a:off x="2590328" y="6531057"/>
            <a:ext cx="3963343" cy="260532"/>
            <a:chOff x="180094" y="6062888"/>
            <a:chExt cx="3963343" cy="260532"/>
          </a:xfrm>
        </p:grpSpPr>
        <p:sp>
          <p:nvSpPr>
            <p:cNvPr id="531" name="Flowchart: Process 530">
              <a:extLst>
                <a:ext uri="{FF2B5EF4-FFF2-40B4-BE49-F238E27FC236}">
                  <a16:creationId xmlns:a16="http://schemas.microsoft.com/office/drawing/2014/main" id="{FAA2E037-9D3E-049D-F1CC-A90C77F69477}"/>
                </a:ext>
              </a:extLst>
            </p:cNvPr>
            <p:cNvSpPr/>
            <p:nvPr/>
          </p:nvSpPr>
          <p:spPr>
            <a:xfrm>
              <a:off x="180094" y="6062889"/>
              <a:ext cx="968216" cy="26053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Input (Source)</a:t>
              </a:r>
            </a:p>
          </p:txBody>
        </p:sp>
        <p:sp>
          <p:nvSpPr>
            <p:cNvPr id="532" name="Flowchart: Process 531">
              <a:extLst>
                <a:ext uri="{FF2B5EF4-FFF2-40B4-BE49-F238E27FC236}">
                  <a16:creationId xmlns:a16="http://schemas.microsoft.com/office/drawing/2014/main" id="{7A8BBAAE-25F2-269A-6B17-F177203934DF}"/>
                </a:ext>
              </a:extLst>
            </p:cNvPr>
            <p:cNvSpPr/>
            <p:nvPr/>
          </p:nvSpPr>
          <p:spPr>
            <a:xfrm>
              <a:off x="1147352" y="6062888"/>
              <a:ext cx="1213673" cy="260531"/>
            </a:xfrm>
            <a:prstGeom prst="flowChartProcess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b="1" dirty="0">
                  <a:solidFill>
                    <a:srgbClr val="FF0000"/>
                  </a:solidFill>
                </a:rPr>
                <a:t>Join Key</a:t>
              </a:r>
            </a:p>
          </p:txBody>
        </p:sp>
        <p:sp>
          <p:nvSpPr>
            <p:cNvPr id="533" name="Flowchart: Process 532">
              <a:extLst>
                <a:ext uri="{FF2B5EF4-FFF2-40B4-BE49-F238E27FC236}">
                  <a16:creationId xmlns:a16="http://schemas.microsoft.com/office/drawing/2014/main" id="{68952468-0F4D-BA42-1213-6F4FE299EC5C}"/>
                </a:ext>
              </a:extLst>
            </p:cNvPr>
            <p:cNvSpPr/>
            <p:nvPr/>
          </p:nvSpPr>
          <p:spPr>
            <a:xfrm>
              <a:off x="2115567" y="6062888"/>
              <a:ext cx="2027870" cy="260531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Intermediate Data / Output</a:t>
              </a:r>
            </a:p>
          </p:txBody>
        </p:sp>
      </p:grp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D65752A-7A80-4EA1-0B5B-623F587A606E}"/>
              </a:ext>
            </a:extLst>
          </p:cNvPr>
          <p:cNvSpPr/>
          <p:nvPr/>
        </p:nvSpPr>
        <p:spPr>
          <a:xfrm>
            <a:off x="6898487" y="3986120"/>
            <a:ext cx="1575778" cy="500757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B. Shock factors for sensitivity blending</a:t>
            </a:r>
          </a:p>
        </p:txBody>
      </p:sp>
      <p:graphicFrame>
        <p:nvGraphicFramePr>
          <p:cNvPr id="240" name="Table 239">
            <a:extLst>
              <a:ext uri="{FF2B5EF4-FFF2-40B4-BE49-F238E27FC236}">
                <a16:creationId xmlns:a16="http://schemas.microsoft.com/office/drawing/2014/main" id="{9DAFE592-8839-E379-AE67-E6C3A3861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2641945"/>
              </p:ext>
            </p:extLst>
          </p:nvPr>
        </p:nvGraphicFramePr>
        <p:xfrm>
          <a:off x="6839683" y="4649060"/>
          <a:ext cx="1693385" cy="1005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93385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B. ES Blending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FX (Currency)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Shock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6C954023-1CAD-8825-B6B5-10389CF0D0D7}"/>
              </a:ext>
            </a:extLst>
          </p:cNvPr>
          <p:cNvCxnSpPr>
            <a:stCxn id="5" idx="2"/>
            <a:endCxn id="240" idx="0"/>
          </p:cNvCxnSpPr>
          <p:nvPr/>
        </p:nvCxnSpPr>
        <p:spPr>
          <a:xfrm flipH="1">
            <a:off x="7686375" y="4486877"/>
            <a:ext cx="1" cy="162183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F633D1-F0D1-222E-B206-597352327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631897"/>
              </p:ext>
            </p:extLst>
          </p:nvPr>
        </p:nvGraphicFramePr>
        <p:xfrm>
          <a:off x="488175" y="4175047"/>
          <a:ext cx="1773689" cy="20116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7368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81503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Scaling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23756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Tax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94352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Minority Interest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54309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32169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02532B-DE86-818F-ACF3-667091A1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429616"/>
              </p:ext>
            </p:extLst>
          </p:nvPr>
        </p:nvGraphicFramePr>
        <p:xfrm>
          <a:off x="329343" y="568543"/>
          <a:ext cx="2032751" cy="12573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96113">
                <a:tc>
                  <a:txBody>
                    <a:bodyPr/>
                    <a:lstStyle/>
                    <a:p>
                      <a:r>
                        <a:rPr lang="en-US" sz="1050" dirty="0"/>
                        <a:t>Quarterly Earning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  <a:tr h="152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9435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A12B91-B42A-30F5-A045-F2817A3A22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521514"/>
              </p:ext>
            </p:extLst>
          </p:nvPr>
        </p:nvGraphicFramePr>
        <p:xfrm>
          <a:off x="3363417" y="2266897"/>
          <a:ext cx="2032751" cy="2011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C. ES-Based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 Group (IR, PE, ALDA)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22883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Blended Sensitivity (no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00585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Passthrough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25794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PT Ratio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193494"/>
                  </a:ext>
                </a:extLst>
              </a:tr>
            </a:tbl>
          </a:graphicData>
        </a:graphic>
      </p:graphicFrame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85AA2C7F-20A1-4971-9812-21BD93B11C49}"/>
              </a:ext>
            </a:extLst>
          </p:cNvPr>
          <p:cNvSpPr/>
          <p:nvPr/>
        </p:nvSpPr>
        <p:spPr>
          <a:xfrm>
            <a:off x="488175" y="2010781"/>
            <a:ext cx="1715086" cy="476072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Quarterly </a:t>
            </a:r>
            <a:r>
              <a:rPr lang="en-US" sz="1200" b="1" dirty="0">
                <a:solidFill>
                  <a:schemeClr val="tx1"/>
                </a:solidFill>
              </a:rPr>
              <a:t>ES </a:t>
            </a:r>
            <a:r>
              <a:rPr lang="en-US" sz="1200" dirty="0">
                <a:solidFill>
                  <a:schemeClr val="tx1"/>
                </a:solidFill>
              </a:rPr>
              <a:t>Wave 1 &amp; Wave 2 (ALM)</a:t>
            </a:r>
          </a:p>
        </p:txBody>
      </p: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1ECCA2E1-A819-6AA2-E220-13D3AFB3A67C}"/>
              </a:ext>
            </a:extLst>
          </p:cNvPr>
          <p:cNvSpPr/>
          <p:nvPr/>
        </p:nvSpPr>
        <p:spPr>
          <a:xfrm>
            <a:off x="568140" y="3629728"/>
            <a:ext cx="1613757" cy="364738"/>
          </a:xfrm>
          <a:prstGeom prst="flowChartProcess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ES Segment Mapping</a:t>
            </a:r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B791D75A-8B72-F270-8845-916C6C11CFB1}"/>
              </a:ext>
            </a:extLst>
          </p:cNvPr>
          <p:cNvSpPr/>
          <p:nvPr/>
        </p:nvSpPr>
        <p:spPr>
          <a:xfrm>
            <a:off x="3363417" y="4525538"/>
            <a:ext cx="2032751" cy="500757"/>
          </a:xfrm>
          <a:prstGeom prst="flowChartProcess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C. ES-based liability/net impact + FX Impact 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6FB4FC4-0CEC-8555-D7BA-CCD4C4466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311154"/>
              </p:ext>
            </p:extLst>
          </p:nvPr>
        </p:nvGraphicFramePr>
        <p:xfrm>
          <a:off x="329342" y="2680191"/>
          <a:ext cx="2032751" cy="7543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96113">
                <a:tc>
                  <a:txBody>
                    <a:bodyPr/>
                    <a:lstStyle/>
                    <a:p>
                      <a:r>
                        <a:rPr lang="en-US" sz="1050" dirty="0"/>
                        <a:t>Quarterly Earning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Total Asset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54309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32169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520632A-F0D4-A5C2-9FBB-5DEE459AC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629586"/>
              </p:ext>
            </p:extLst>
          </p:nvPr>
        </p:nvGraphicFramePr>
        <p:xfrm>
          <a:off x="6839682" y="2689807"/>
          <a:ext cx="1693385" cy="11658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93385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B. ES Blending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Shock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EF8E58-6311-1E8B-7033-0F782F61E3FA}"/>
              </a:ext>
            </a:extLst>
          </p:cNvPr>
          <p:cNvCxnSpPr>
            <a:stCxn id="5" idx="0"/>
            <a:endCxn id="18" idx="2"/>
          </p:cNvCxnSpPr>
          <p:nvPr/>
        </p:nvCxnSpPr>
        <p:spPr>
          <a:xfrm flipH="1" flipV="1">
            <a:off x="7686374" y="3855667"/>
            <a:ext cx="2" cy="130453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23400EE-D834-7EFA-1FCF-81CB1E306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358470"/>
              </p:ext>
            </p:extLst>
          </p:nvPr>
        </p:nvGraphicFramePr>
        <p:xfrm>
          <a:off x="3363417" y="5254718"/>
          <a:ext cx="2032751" cy="914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C. ES-Based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Currency (FX) Translation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27325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Sensitivity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178646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3AFCAE-9D48-54B5-F503-94C3DEBAACE8}"/>
              </a:ext>
            </a:extLst>
          </p:cNvPr>
          <p:cNvCxnSpPr>
            <a:stCxn id="10" idx="0"/>
            <a:endCxn id="8" idx="2"/>
          </p:cNvCxnSpPr>
          <p:nvPr/>
        </p:nvCxnSpPr>
        <p:spPr>
          <a:xfrm flipV="1">
            <a:off x="1345718" y="1825843"/>
            <a:ext cx="0" cy="184938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5C343A-383E-9D89-EA51-E8083A0880AC}"/>
              </a:ext>
            </a:extLst>
          </p:cNvPr>
          <p:cNvCxnSpPr>
            <a:stCxn id="10" idx="2"/>
            <a:endCxn id="17" idx="0"/>
          </p:cNvCxnSpPr>
          <p:nvPr/>
        </p:nvCxnSpPr>
        <p:spPr>
          <a:xfrm flipH="1">
            <a:off x="1345717" y="2486853"/>
            <a:ext cx="1" cy="193338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8998A9D-99FE-2B2D-7B57-24F3E11E0909}"/>
              </a:ext>
            </a:extLst>
          </p:cNvPr>
          <p:cNvCxnSpPr>
            <a:stCxn id="11" idx="2"/>
            <a:endCxn id="4" idx="0"/>
          </p:cNvCxnSpPr>
          <p:nvPr/>
        </p:nvCxnSpPr>
        <p:spPr>
          <a:xfrm>
            <a:off x="1375019" y="3994466"/>
            <a:ext cx="0" cy="180581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Flowchart: Connector 234">
            <a:extLst>
              <a:ext uri="{FF2B5EF4-FFF2-40B4-BE49-F238E27FC236}">
                <a16:creationId xmlns:a16="http://schemas.microsoft.com/office/drawing/2014/main" id="{7B08A68D-47E6-B7B1-CC59-1630925B1CB9}"/>
              </a:ext>
            </a:extLst>
          </p:cNvPr>
          <p:cNvSpPr/>
          <p:nvPr/>
        </p:nvSpPr>
        <p:spPr>
          <a:xfrm>
            <a:off x="8596081" y="4091964"/>
            <a:ext cx="310540" cy="289070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A9203C5-34E9-81C0-A9D3-F5C0BCE80CDC}"/>
              </a:ext>
            </a:extLst>
          </p:cNvPr>
          <p:cNvCxnSpPr>
            <a:cxnSpLocks/>
            <a:stCxn id="235" idx="2"/>
            <a:endCxn id="5" idx="3"/>
          </p:cNvCxnSpPr>
          <p:nvPr/>
        </p:nvCxnSpPr>
        <p:spPr>
          <a:xfrm flipH="1">
            <a:off x="8474265" y="4236499"/>
            <a:ext cx="121816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3" name="Table 252">
            <a:extLst>
              <a:ext uri="{FF2B5EF4-FFF2-40B4-BE49-F238E27FC236}">
                <a16:creationId xmlns:a16="http://schemas.microsoft.com/office/drawing/2014/main" id="{4D6E3294-9435-5DDF-8A8F-757CA0C45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095492"/>
              </p:ext>
            </p:extLst>
          </p:nvPr>
        </p:nvGraphicFramePr>
        <p:xfrm>
          <a:off x="3363417" y="565586"/>
          <a:ext cx="2032751" cy="14173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96113">
                <a:tc>
                  <a:txBody>
                    <a:bodyPr/>
                    <a:lstStyle/>
                    <a:p>
                      <a:r>
                        <a:rPr lang="en-US" sz="1050" dirty="0"/>
                        <a:t>Quarterly Earning Sensitivity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  <a:tr h="1524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 (+ non-parallel RF sensitivity)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94352"/>
                  </a:ext>
                </a:extLst>
              </a:tr>
            </a:tbl>
          </a:graphicData>
        </a:graphic>
      </p:graphicFrame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507821D5-354E-99ED-094F-D026AAB5DDC0}"/>
              </a:ext>
            </a:extLst>
          </p:cNvPr>
          <p:cNvCxnSpPr>
            <a:cxnSpLocks/>
            <a:stCxn id="8" idx="3"/>
            <a:endCxn id="253" idx="1"/>
          </p:cNvCxnSpPr>
          <p:nvPr/>
        </p:nvCxnSpPr>
        <p:spPr>
          <a:xfrm>
            <a:off x="2362094" y="1197193"/>
            <a:ext cx="1001323" cy="77053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Arrow Connector 481">
            <a:extLst>
              <a:ext uri="{FF2B5EF4-FFF2-40B4-BE49-F238E27FC236}">
                <a16:creationId xmlns:a16="http://schemas.microsoft.com/office/drawing/2014/main" id="{AD880327-80E2-1CEF-C6F0-50BA0841859A}"/>
              </a:ext>
            </a:extLst>
          </p:cNvPr>
          <p:cNvCxnSpPr>
            <a:endCxn id="26" idx="1"/>
          </p:cNvCxnSpPr>
          <p:nvPr/>
        </p:nvCxnSpPr>
        <p:spPr>
          <a:xfrm>
            <a:off x="2362094" y="3048000"/>
            <a:ext cx="1001323" cy="2663918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Arrow Connector 483">
            <a:extLst>
              <a:ext uri="{FF2B5EF4-FFF2-40B4-BE49-F238E27FC236}">
                <a16:creationId xmlns:a16="http://schemas.microsoft.com/office/drawing/2014/main" id="{6CEC7385-DF0B-9D7B-9FBE-D301CAA323EA}"/>
              </a:ext>
            </a:extLst>
          </p:cNvPr>
          <p:cNvCxnSpPr>
            <a:cxnSpLocks/>
            <a:stCxn id="240" idx="1"/>
            <a:endCxn id="26" idx="3"/>
          </p:cNvCxnSpPr>
          <p:nvPr/>
        </p:nvCxnSpPr>
        <p:spPr>
          <a:xfrm flipH="1">
            <a:off x="5396168" y="5151980"/>
            <a:ext cx="1443515" cy="559938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Arrow Connector 486">
            <a:extLst>
              <a:ext uri="{FF2B5EF4-FFF2-40B4-BE49-F238E27FC236}">
                <a16:creationId xmlns:a16="http://schemas.microsoft.com/office/drawing/2014/main" id="{F05C9F1C-C3BD-D14D-A932-CB1398C62605}"/>
              </a:ext>
            </a:extLst>
          </p:cNvPr>
          <p:cNvCxnSpPr>
            <a:cxnSpLocks/>
            <a:stCxn id="18" idx="1"/>
            <a:endCxn id="9" idx="3"/>
          </p:cNvCxnSpPr>
          <p:nvPr/>
        </p:nvCxnSpPr>
        <p:spPr>
          <a:xfrm flipH="1">
            <a:off x="5396168" y="3272737"/>
            <a:ext cx="1443514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Arrow Connector 489">
            <a:extLst>
              <a:ext uri="{FF2B5EF4-FFF2-40B4-BE49-F238E27FC236}">
                <a16:creationId xmlns:a16="http://schemas.microsoft.com/office/drawing/2014/main" id="{39258E0B-7E29-E3BD-EDDF-3214ABEF21C8}"/>
              </a:ext>
            </a:extLst>
          </p:cNvPr>
          <p:cNvCxnSpPr>
            <a:cxnSpLocks/>
            <a:stCxn id="253" idx="2"/>
            <a:endCxn id="9" idx="0"/>
          </p:cNvCxnSpPr>
          <p:nvPr/>
        </p:nvCxnSpPr>
        <p:spPr>
          <a:xfrm>
            <a:off x="4379792" y="1982906"/>
            <a:ext cx="0" cy="28399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492">
            <a:extLst>
              <a:ext uri="{FF2B5EF4-FFF2-40B4-BE49-F238E27FC236}">
                <a16:creationId xmlns:a16="http://schemas.microsoft.com/office/drawing/2014/main" id="{C47A1BED-E71F-CAB0-5634-4835849298AE}"/>
              </a:ext>
            </a:extLst>
          </p:cNvPr>
          <p:cNvCxnSpPr>
            <a:stCxn id="12" idx="0"/>
            <a:endCxn id="9" idx="2"/>
          </p:cNvCxnSpPr>
          <p:nvPr/>
        </p:nvCxnSpPr>
        <p:spPr>
          <a:xfrm flipH="1" flipV="1">
            <a:off x="4379792" y="4278577"/>
            <a:ext cx="1" cy="246961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Connector 494">
            <a:extLst>
              <a:ext uri="{FF2B5EF4-FFF2-40B4-BE49-F238E27FC236}">
                <a16:creationId xmlns:a16="http://schemas.microsoft.com/office/drawing/2014/main" id="{B3092434-A100-0CD0-7B9F-80CBB87DD7A6}"/>
              </a:ext>
            </a:extLst>
          </p:cNvPr>
          <p:cNvCxnSpPr>
            <a:cxnSpLocks/>
            <a:stCxn id="12" idx="2"/>
            <a:endCxn id="26" idx="0"/>
          </p:cNvCxnSpPr>
          <p:nvPr/>
        </p:nvCxnSpPr>
        <p:spPr>
          <a:xfrm flipH="1">
            <a:off x="4379792" y="5026295"/>
            <a:ext cx="1" cy="228423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Straight Arrow Connector 498">
            <a:extLst>
              <a:ext uri="{FF2B5EF4-FFF2-40B4-BE49-F238E27FC236}">
                <a16:creationId xmlns:a16="http://schemas.microsoft.com/office/drawing/2014/main" id="{07F4BD27-1277-8F0F-CA90-649AE24FFBEF}"/>
              </a:ext>
            </a:extLst>
          </p:cNvPr>
          <p:cNvCxnSpPr>
            <a:endCxn id="26" idx="1"/>
          </p:cNvCxnSpPr>
          <p:nvPr/>
        </p:nvCxnSpPr>
        <p:spPr>
          <a:xfrm>
            <a:off x="2261864" y="5254718"/>
            <a:ext cx="1101553" cy="45720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EC2F7317-E580-2360-D875-A5EF05ADD13F}"/>
              </a:ext>
            </a:extLst>
          </p:cNvPr>
          <p:cNvCxnSpPr>
            <a:endCxn id="9" idx="1"/>
          </p:cNvCxnSpPr>
          <p:nvPr/>
        </p:nvCxnSpPr>
        <p:spPr>
          <a:xfrm flipV="1">
            <a:off x="2261864" y="3272737"/>
            <a:ext cx="1101553" cy="198198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: Elbow 503">
            <a:extLst>
              <a:ext uri="{FF2B5EF4-FFF2-40B4-BE49-F238E27FC236}">
                <a16:creationId xmlns:a16="http://schemas.microsoft.com/office/drawing/2014/main" id="{84FEEEE3-C129-67BB-6338-873F219B3956}"/>
              </a:ext>
            </a:extLst>
          </p:cNvPr>
          <p:cNvCxnSpPr>
            <a:cxnSpLocks/>
            <a:endCxn id="26" idx="2"/>
          </p:cNvCxnSpPr>
          <p:nvPr/>
        </p:nvCxnSpPr>
        <p:spPr>
          <a:xfrm rot="5400000">
            <a:off x="3618285" y="4391235"/>
            <a:ext cx="2539390" cy="1016376"/>
          </a:xfrm>
          <a:prstGeom prst="bentConnector5">
            <a:avLst>
              <a:gd name="adj1" fmla="val 113"/>
              <a:gd name="adj2" fmla="val -62403"/>
              <a:gd name="adj3" fmla="val 109002"/>
            </a:avLst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13918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B7BAB-A479-D528-CA06-6428A4987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7725E-79E9-CEA1-EC1E-2E95E500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13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0C23B-4A1A-1483-3655-CE57779BBF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F19A2A7-1B1A-7437-B6CF-8B85C99E7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1251"/>
            <a:ext cx="9144000" cy="3695363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5E4E772-8097-E7FB-6E82-41ABE8512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07517"/>
            <a:ext cx="9144000" cy="35204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BF6EDB-600D-9F48-F185-7023A1D2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66" y="62042"/>
            <a:ext cx="8521415" cy="441962"/>
          </a:xfrm>
        </p:spPr>
        <p:txBody>
          <a:bodyPr/>
          <a:lstStyle/>
          <a:p>
            <a:r>
              <a:rPr lang="en-US" dirty="0"/>
              <a:t>C. ES-based Liability/Net Impact – ES Sample</a:t>
            </a:r>
          </a:p>
        </p:txBody>
      </p:sp>
    </p:spTree>
    <p:extLst>
      <p:ext uri="{BB962C8B-B14F-4D97-AF65-F5344CB8AC3E}">
        <p14:creationId xmlns:p14="http://schemas.microsoft.com/office/powerpoint/2010/main" val="2622631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B636-4089-5A06-F4AD-09657E1C0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7045-DBE1-9EF8-2885-383A32DD6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966" y="250850"/>
            <a:ext cx="8521415" cy="441962"/>
          </a:xfrm>
        </p:spPr>
        <p:txBody>
          <a:bodyPr/>
          <a:lstStyle/>
          <a:p>
            <a:r>
              <a:rPr lang="en-US" dirty="0"/>
              <a:t>C. ES-based Liability/Net Impact – Detailed ES Sensitivity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8354F-9911-C016-4414-6E6CB8ED1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t>14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8EB4B0-8527-ECEF-08A6-1549F2F923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B35E9413-671E-59B7-A4DA-752153FF1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6141833"/>
              </p:ext>
            </p:extLst>
          </p:nvPr>
        </p:nvGraphicFramePr>
        <p:xfrm>
          <a:off x="242046" y="819033"/>
          <a:ext cx="8291021" cy="4991711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406029">
                  <a:extLst>
                    <a:ext uri="{9D8B030D-6E8A-4147-A177-3AD203B41FA5}">
                      <a16:colId xmlns:a16="http://schemas.microsoft.com/office/drawing/2014/main" val="2211277756"/>
                    </a:ext>
                  </a:extLst>
                </a:gridCol>
                <a:gridCol w="4884992">
                  <a:extLst>
                    <a:ext uri="{9D8B030D-6E8A-4147-A177-3AD203B41FA5}">
                      <a16:colId xmlns:a16="http://schemas.microsoft.com/office/drawing/2014/main" val="743324713"/>
                    </a:ext>
                  </a:extLst>
                </a:gridCol>
              </a:tblGrid>
              <a:tr h="358751">
                <a:tc>
                  <a:txBody>
                    <a:bodyPr/>
                    <a:lstStyle/>
                    <a:p>
                      <a:r>
                        <a:rPr lang="en-US" sz="1400" dirty="0"/>
                        <a:t>Detailed 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Wave 1, Wave 2 or Further Derived from Wave 1&amp;2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680865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RF-50bps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 (Wave 2): ‘Partial RF-50, all tenors up to 7yr’ – ‘Partial RF-50, all tenors up to 5yr’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4607607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RF+50bps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 (Wave 2): ‘Partial RF+50, all tenors up to 7yr’ – ‘Partial RF+50, all tenors up to 5yr’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0028847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RF-100bps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 (Wave 2): ‘Partial RF-100, all tenors up to 7yr’ – ‘Partial RF-100, all tenors up to 5yr’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10432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RF+100bps 7yr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 (Wave 2): ‘Partial RF+100, all tenors up to 7yr’ – ‘Partial RF+100, all tenors up to 5yr’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345189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 5y, 10y, 20y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Derived in the same way as ‘RF 7yr Only’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96667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RF-50bps 2yr Only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(similar for +50bps, -100bps, +100bps)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 2: </a:t>
                      </a:r>
                      <a:r>
                        <a:rPr lang="en-US" sz="1400" dirty="0"/>
                        <a:t>‘Partial RF-50, all tenors up to 2yr’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4786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RF-50bps 30yr Only</a:t>
                      </a:r>
                    </a:p>
                    <a:p>
                      <a:r>
                        <a:rPr lang="en-US" sz="1400" dirty="0"/>
                        <a:t>(similar for +50bps, -100bps, +100bps)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Derived: ‘Partial RF-50’ (Wave 1) – ‘Partial RF-50, all tenors up to 20yr’ (Wave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091851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CS+50bps, CS-50bps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43663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SS+20bps, SS-20bps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311263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PE-40%, PE-10%, PE+10%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4730650"/>
                  </a:ext>
                </a:extLst>
              </a:tr>
              <a:tr h="211030">
                <a:tc>
                  <a:txBody>
                    <a:bodyPr/>
                    <a:lstStyle/>
                    <a:p>
                      <a:r>
                        <a:rPr lang="en-US" sz="1400" dirty="0"/>
                        <a:t>ALDA-10%, ALDA+10%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Wave 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696069"/>
                  </a:ext>
                </a:extLst>
              </a:tr>
            </a:tbl>
          </a:graphicData>
        </a:graphic>
      </p:graphicFrame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A13969FB-4F14-DC51-3F73-2BEC8FB1CF9A}"/>
              </a:ext>
            </a:extLst>
          </p:cNvPr>
          <p:cNvSpPr/>
          <p:nvPr/>
        </p:nvSpPr>
        <p:spPr>
          <a:xfrm>
            <a:off x="4236444" y="3360820"/>
            <a:ext cx="85703" cy="136361"/>
          </a:xfrm>
          <a:prstGeom prst="flowChartDecision">
            <a:avLst/>
          </a:prstGeom>
          <a:solidFill>
            <a:srgbClr val="F496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82832" tIns="45708" rIns="182832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799"/>
          </a:p>
        </p:txBody>
      </p:sp>
      <p:sp>
        <p:nvSpPr>
          <p:cNvPr id="6" name="TextBox 33">
            <a:extLst>
              <a:ext uri="{FF2B5EF4-FFF2-40B4-BE49-F238E27FC236}">
                <a16:creationId xmlns:a16="http://schemas.microsoft.com/office/drawing/2014/main" id="{56394E94-B8A7-E999-1F8F-1772B355AADB}"/>
              </a:ext>
            </a:extLst>
          </p:cNvPr>
          <p:cNvSpPr txBox="1"/>
          <p:nvPr/>
        </p:nvSpPr>
        <p:spPr>
          <a:xfrm>
            <a:off x="4344191" y="3385692"/>
            <a:ext cx="563366" cy="107694"/>
          </a:xfrm>
          <a:prstGeom prst="rect">
            <a:avLst/>
          </a:prstGeom>
          <a:noFill/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700" b="1">
                <a:cs typeface="Arial" panose="020B0604020202020204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348263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947A9-E801-A5C8-6BE9-9CD44ADF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672D-3248-B6B8-702A-4FC92A0A6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Methodology Assumptions used for stress test using </a:t>
            </a:r>
            <a:r>
              <a:rPr lang="en-US" dirty="0" err="1">
                <a:latin typeface="Arial"/>
                <a:cs typeface="Arial"/>
              </a:rPr>
              <a:t>BarraOne</a:t>
            </a:r>
            <a:r>
              <a:rPr lang="en-US" dirty="0">
                <a:latin typeface="Arial"/>
                <a:cs typeface="Arial"/>
              </a:rPr>
              <a:t> and Liability overlay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F4684-DCDE-916E-6A28-1BF5ADA3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DB19168-47D9-B170-6F8A-8855D3E4B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461" y="1481422"/>
            <a:ext cx="8458117" cy="3895155"/>
          </a:xfrm>
        </p:spPr>
        <p:txBody>
          <a:bodyPr vert="horz" lIns="0" tIns="0" rIns="0" bIns="0" rtlCol="0" anchor="t">
            <a:noAutofit/>
          </a:bodyPr>
          <a:lstStyle/>
          <a:p>
            <a:pPr marL="249288" indent="-257244"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Arial"/>
                <a:cs typeface="Arial"/>
              </a:rPr>
              <a:t>Certain segments are excluded due to immaterial impacts.</a:t>
            </a:r>
          </a:p>
          <a:p>
            <a:pPr marL="249288" indent="-257244"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Arial"/>
                <a:cs typeface="Arial"/>
              </a:rPr>
              <a:t>Investment contracts are assumed to be fully passed through to the policyholders, no P&amp;L nor balance sheet impacts.</a:t>
            </a:r>
            <a:endParaRPr lang="en-US" sz="1200" b="1" dirty="0">
              <a:latin typeface="Arial"/>
              <a:cs typeface="Arial"/>
            </a:endParaRPr>
          </a:p>
          <a:p>
            <a:pPr marL="249288" indent="-257244"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Arial"/>
                <a:cs typeface="Arial"/>
              </a:rPr>
              <a:t>Interest Rate 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AutoNum type="romanLcPeriod"/>
            </a:pPr>
            <a:r>
              <a:rPr lang="en-US" sz="1050" dirty="0">
                <a:latin typeface="Arial"/>
                <a:cs typeface="Arial"/>
              </a:rPr>
              <a:t>Guaranteed/Surplus/NPT segments: asset impacts are calculated using </a:t>
            </a:r>
            <a:r>
              <a:rPr lang="en-US" sz="1050" dirty="0" err="1">
                <a:latin typeface="Arial"/>
                <a:cs typeface="Arial"/>
              </a:rPr>
              <a:t>BarraOne</a:t>
            </a:r>
            <a:r>
              <a:rPr lang="en-US" sz="1050" dirty="0">
                <a:latin typeface="Arial"/>
                <a:cs typeface="Arial"/>
              </a:rPr>
              <a:t> while corresponding liability impacts are prorated based on earnings sensitivities.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AutoNum type="romanLcPeriod"/>
            </a:pPr>
            <a:r>
              <a:rPr lang="en-US" sz="1050" dirty="0">
                <a:latin typeface="Arial"/>
                <a:cs typeface="Arial"/>
              </a:rPr>
              <a:t>Par Segments: P&amp;L and OCI passthrough ratios are calculated based on segment-specific earnings sensitivities and applied to </a:t>
            </a:r>
            <a:r>
              <a:rPr lang="en-US" sz="1050" dirty="0" err="1">
                <a:latin typeface="Arial"/>
                <a:cs typeface="Arial"/>
              </a:rPr>
              <a:t>BarraOne</a:t>
            </a:r>
            <a:r>
              <a:rPr lang="en-US" sz="1050" dirty="0">
                <a:latin typeface="Arial"/>
                <a:cs typeface="Arial"/>
              </a:rPr>
              <a:t> asset impacts to derive net impacts.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AutoNum type="romanLcPeriod"/>
            </a:pPr>
            <a:r>
              <a:rPr lang="en-US" sz="1050" dirty="0">
                <a:latin typeface="Arial"/>
                <a:cs typeface="Arial"/>
              </a:rPr>
              <a:t>Passthrough/VUL/Pension Segments: The net impacts are prorated based on earnings sensitivities using </a:t>
            </a:r>
            <a:r>
              <a:rPr lang="en-US" sz="1050" dirty="0" err="1">
                <a:latin typeface="Arial"/>
                <a:cs typeface="Arial"/>
              </a:rPr>
              <a:t>BarraOne</a:t>
            </a:r>
            <a:r>
              <a:rPr lang="en-US" sz="1050" dirty="0">
                <a:latin typeface="Arial"/>
                <a:cs typeface="Arial"/>
              </a:rPr>
              <a:t> shocks.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Assume hedge accounting is fully effective (no P&amp;L impacts).</a:t>
            </a:r>
          </a:p>
          <a:p>
            <a:pPr marL="249288" indent="-257244"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Arial"/>
                <a:cs typeface="Arial"/>
              </a:rPr>
              <a:t>Public Equity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MV impact of direct equity (General Account) is calculated by </a:t>
            </a:r>
            <a:r>
              <a:rPr lang="en-US" sz="1050" dirty="0" err="1">
                <a:latin typeface="Arial"/>
                <a:cs typeface="Arial"/>
              </a:rPr>
              <a:t>BarraOne</a:t>
            </a:r>
            <a:r>
              <a:rPr lang="en-US" sz="1050" dirty="0">
                <a:latin typeface="Arial"/>
                <a:cs typeface="Arial"/>
              </a:rPr>
              <a:t> with a couple of exceptions: portfolio 2H7B and external COLI, where the MV change is estimated with equity and currency scenario shocks as those two portfolios are still not in the EDL. 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MV impact of direct equity is assumed to be 100% to P&amp;L, i.e., FVTPL. Liability impacts on P&amp;L and CSM are prorated using ES.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Impacts of indirect exposure (Separate Account impact on OCI and CSM) is prorated using ES (i.e., for Pension, VUL, and VA).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MV change of PE derivative is assumed to be 100% offset by liability P&amp;L.</a:t>
            </a:r>
          </a:p>
          <a:p>
            <a:pPr marL="249288" lvl="1" indent="-257244">
              <a:spcBef>
                <a:spcPts val="4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1200" dirty="0">
                <a:latin typeface="Arial"/>
                <a:cs typeface="Arial"/>
              </a:rPr>
              <a:t>Currency</a:t>
            </a:r>
          </a:p>
          <a:p>
            <a:pPr marL="511153" lvl="1" indent="-257244">
              <a:spcBef>
                <a:spcPts val="450"/>
              </a:spcBef>
              <a:buClr>
                <a:srgbClr val="000000"/>
              </a:buClr>
              <a:buFont typeface="Manulife JH Sans" panose="020B0604020202020204" pitchFamily="34" charset="0"/>
              <a:buAutoNum type="romanLcPeriod"/>
            </a:pPr>
            <a:r>
              <a:rPr lang="en-US" sz="1050" dirty="0">
                <a:latin typeface="Arial"/>
                <a:cs typeface="Arial"/>
              </a:rPr>
              <a:t>Similar as for interest rate risk, assume hedge accounting is fully effective (no P&amp;L impacts).</a:t>
            </a:r>
          </a:p>
          <a:p>
            <a:pPr marL="170067" indent="-170067">
              <a:spcBef>
                <a:spcPts val="450"/>
              </a:spcBef>
              <a:buClr>
                <a:srgbClr val="000000"/>
              </a:buClr>
              <a:buFont typeface="Wingdings" panose="020B0604020202020204" pitchFamily="34" charset="0"/>
              <a:buChar char="Ø"/>
            </a:pPr>
            <a:endParaRPr lang="en-US" sz="1200" dirty="0">
              <a:latin typeface="Arial"/>
              <a:cs typeface="Arial"/>
            </a:endParaRPr>
          </a:p>
          <a:p>
            <a:pPr marL="0" indent="0">
              <a:spcBef>
                <a:spcPts val="450"/>
              </a:spcBef>
              <a:buClr>
                <a:srgbClr val="000000"/>
              </a:buClr>
              <a:buNone/>
            </a:pPr>
            <a:endParaRPr lang="en-US"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187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Appendix</a:t>
            </a:r>
            <a:endParaRPr lang="en-CA" b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16DA5C-A487-684F-86CC-4CC612BE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16</a:t>
            </a:fld>
            <a:endParaRPr lang="en-CA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614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3D72-6FA3-A2D0-3AD0-09DA99A5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DDD7E-0204-E7B1-6F8D-4CCDD9A2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73" y="112854"/>
            <a:ext cx="8721779" cy="364738"/>
          </a:xfrm>
        </p:spPr>
        <p:txBody>
          <a:bodyPr/>
          <a:lstStyle/>
          <a:p>
            <a:r>
              <a:rPr lang="en-CA" dirty="0"/>
              <a:t>Current </a:t>
            </a:r>
            <a:r>
              <a:rPr lang="en-CA" dirty="0" err="1"/>
              <a:t>BarraOne</a:t>
            </a:r>
            <a:r>
              <a:rPr lang="en-CA" dirty="0"/>
              <a:t> Stress Test Process (Excel-based)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0D390-3DF0-C166-D3AC-4FE983BA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17</a:t>
            </a:fld>
            <a:endParaRPr lang="en-CA"/>
          </a:p>
        </p:txBody>
      </p: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CEF0E345-F14C-C86E-0484-46663E5E1921}"/>
              </a:ext>
            </a:extLst>
          </p:cNvPr>
          <p:cNvGrpSpPr/>
          <p:nvPr/>
        </p:nvGrpSpPr>
        <p:grpSpPr>
          <a:xfrm>
            <a:off x="2180875" y="6314445"/>
            <a:ext cx="3963343" cy="260532"/>
            <a:chOff x="180094" y="6062888"/>
            <a:chExt cx="3963343" cy="260532"/>
          </a:xfrm>
        </p:grpSpPr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A6B9FCC2-A80F-5C50-5593-8E764B05D1C4}"/>
                </a:ext>
              </a:extLst>
            </p:cNvPr>
            <p:cNvSpPr/>
            <p:nvPr/>
          </p:nvSpPr>
          <p:spPr>
            <a:xfrm>
              <a:off x="180094" y="6062889"/>
              <a:ext cx="968216" cy="26053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Input (Source)</a:t>
              </a:r>
            </a:p>
          </p:txBody>
        </p:sp>
        <p:sp>
          <p:nvSpPr>
            <p:cNvPr id="248" name="Flowchart: Process 247">
              <a:extLst>
                <a:ext uri="{FF2B5EF4-FFF2-40B4-BE49-F238E27FC236}">
                  <a16:creationId xmlns:a16="http://schemas.microsoft.com/office/drawing/2014/main" id="{28FD7104-448C-39BE-390A-6B6585B6A232}"/>
                </a:ext>
              </a:extLst>
            </p:cNvPr>
            <p:cNvSpPr/>
            <p:nvPr/>
          </p:nvSpPr>
          <p:spPr>
            <a:xfrm>
              <a:off x="1147352" y="6062888"/>
              <a:ext cx="968215" cy="260531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Template</a:t>
              </a:r>
            </a:p>
          </p:txBody>
        </p:sp>
        <p:sp>
          <p:nvSpPr>
            <p:cNvPr id="249" name="Flowchart: Process 248">
              <a:extLst>
                <a:ext uri="{FF2B5EF4-FFF2-40B4-BE49-F238E27FC236}">
                  <a16:creationId xmlns:a16="http://schemas.microsoft.com/office/drawing/2014/main" id="{660739D6-ADC6-5990-D8EE-4FD43D2407D7}"/>
                </a:ext>
              </a:extLst>
            </p:cNvPr>
            <p:cNvSpPr/>
            <p:nvPr/>
          </p:nvSpPr>
          <p:spPr>
            <a:xfrm>
              <a:off x="2115567" y="6062888"/>
              <a:ext cx="2027870" cy="260531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Intermediate Data / Output</a:t>
              </a: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A75B470D-DCBD-230B-C253-34CB45B43C79}"/>
              </a:ext>
            </a:extLst>
          </p:cNvPr>
          <p:cNvGrpSpPr/>
          <p:nvPr/>
        </p:nvGrpSpPr>
        <p:grpSpPr>
          <a:xfrm>
            <a:off x="136441" y="765429"/>
            <a:ext cx="8911779" cy="5027464"/>
            <a:chOff x="136441" y="765429"/>
            <a:chExt cx="8911779" cy="5027464"/>
          </a:xfrm>
        </p:grpSpPr>
        <p:sp>
          <p:nvSpPr>
            <p:cNvPr id="436" name="Flowchart: Process 435">
              <a:extLst>
                <a:ext uri="{FF2B5EF4-FFF2-40B4-BE49-F238E27FC236}">
                  <a16:creationId xmlns:a16="http://schemas.microsoft.com/office/drawing/2014/main" id="{4E032074-4D36-EC90-04E6-5EE252E780CF}"/>
                </a:ext>
              </a:extLst>
            </p:cNvPr>
            <p:cNvSpPr/>
            <p:nvPr/>
          </p:nvSpPr>
          <p:spPr>
            <a:xfrm>
              <a:off x="5613244" y="859886"/>
              <a:ext cx="1573262" cy="4790842"/>
            </a:xfrm>
            <a:prstGeom prst="flowChartProcess">
              <a:avLst/>
            </a:prstGeom>
            <a:solidFill>
              <a:srgbClr val="00B0F0">
                <a:alpha val="2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BS Impact Summary Template</a:t>
              </a:r>
            </a:p>
          </p:txBody>
        </p:sp>
        <p:sp>
          <p:nvSpPr>
            <p:cNvPr id="18" name="Flowchart: Process 17">
              <a:extLst>
                <a:ext uri="{FF2B5EF4-FFF2-40B4-BE49-F238E27FC236}">
                  <a16:creationId xmlns:a16="http://schemas.microsoft.com/office/drawing/2014/main" id="{2AF14E8E-E9CE-38AB-2427-8624015C6FB7}"/>
                </a:ext>
              </a:extLst>
            </p:cNvPr>
            <p:cNvSpPr/>
            <p:nvPr/>
          </p:nvSpPr>
          <p:spPr>
            <a:xfrm>
              <a:off x="137356" y="3650143"/>
              <a:ext cx="1247466" cy="787240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Quarterly </a:t>
              </a:r>
              <a:r>
                <a:rPr lang="en-US" sz="1050" b="1" dirty="0">
                  <a:solidFill>
                    <a:schemeClr val="tx1"/>
                  </a:solidFill>
                </a:rPr>
                <a:t>Earning Sensitivity(ES) </a:t>
              </a:r>
              <a:r>
                <a:rPr lang="en-US" sz="1050" dirty="0">
                  <a:solidFill>
                    <a:schemeClr val="tx1"/>
                  </a:solidFill>
                </a:rPr>
                <a:t>Wave 1;</a:t>
              </a:r>
            </a:p>
            <a:p>
              <a:r>
                <a:rPr lang="en-US" sz="1050" dirty="0">
                  <a:solidFill>
                    <a:schemeClr val="tx1"/>
                  </a:solidFill>
                </a:rPr>
                <a:t>Earning Sensitivity Wave 2 (ALM)</a:t>
              </a:r>
            </a:p>
          </p:txBody>
        </p:sp>
        <p:sp>
          <p:nvSpPr>
            <p:cNvPr id="22" name="Flowchart: Process 21">
              <a:extLst>
                <a:ext uri="{FF2B5EF4-FFF2-40B4-BE49-F238E27FC236}">
                  <a16:creationId xmlns:a16="http://schemas.microsoft.com/office/drawing/2014/main" id="{6242DB25-B38C-3E34-5859-5F519EA005F5}"/>
                </a:ext>
              </a:extLst>
            </p:cNvPr>
            <p:cNvSpPr/>
            <p:nvPr/>
          </p:nvSpPr>
          <p:spPr>
            <a:xfrm>
              <a:off x="136443" y="1555617"/>
              <a:ext cx="1266795" cy="788778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r>
                <a:rPr lang="en-US" sz="1050" dirty="0">
                  <a:solidFill>
                    <a:schemeClr val="tx1"/>
                  </a:solidFill>
                </a:rPr>
                <a:t>Asset Impact with FX and without FX (B1);</a:t>
              </a:r>
            </a:p>
            <a:p>
              <a:pPr algn="l"/>
              <a:r>
                <a:rPr lang="en-US" sz="1050" dirty="0">
                  <a:solidFill>
                    <a:schemeClr val="tx1"/>
                  </a:solidFill>
                </a:rPr>
                <a:t>GA Position (B1, Internal)</a:t>
              </a:r>
            </a:p>
          </p:txBody>
        </p:sp>
        <p:sp>
          <p:nvSpPr>
            <p:cNvPr id="23" name="Flowchart: Process 22">
              <a:extLst>
                <a:ext uri="{FF2B5EF4-FFF2-40B4-BE49-F238E27FC236}">
                  <a16:creationId xmlns:a16="http://schemas.microsoft.com/office/drawing/2014/main" id="{2242C5CD-0373-4315-8A42-C2ED399966BC}"/>
                </a:ext>
              </a:extLst>
            </p:cNvPr>
            <p:cNvSpPr/>
            <p:nvPr/>
          </p:nvSpPr>
          <p:spPr>
            <a:xfrm>
              <a:off x="136441" y="4666327"/>
              <a:ext cx="1247466" cy="526041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Stress Scenario IR and FX Shocks (B1)</a:t>
              </a:r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20FEAB73-5F51-7587-CD03-7A6BC5EE7A5D}"/>
                </a:ext>
              </a:extLst>
            </p:cNvPr>
            <p:cNvSpPr/>
            <p:nvPr/>
          </p:nvSpPr>
          <p:spPr>
            <a:xfrm>
              <a:off x="144862" y="1048426"/>
              <a:ext cx="1258376" cy="387522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Portfolio – ES Segment Mapping</a:t>
              </a: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13901564-8DD5-94BD-EA1F-7804FA3508D5}"/>
                </a:ext>
              </a:extLst>
            </p:cNvPr>
            <p:cNvSpPr/>
            <p:nvPr/>
          </p:nvSpPr>
          <p:spPr>
            <a:xfrm>
              <a:off x="1800450" y="1434877"/>
              <a:ext cx="1348072" cy="357496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 err="1">
                  <a:solidFill>
                    <a:schemeClr val="tx1"/>
                  </a:solidFill>
                </a:rPr>
                <a:t>BarraOne</a:t>
              </a:r>
              <a:r>
                <a:rPr lang="en-US" sz="1050" dirty="0">
                  <a:solidFill>
                    <a:schemeClr val="tx1"/>
                  </a:solidFill>
                </a:rPr>
                <a:t> Asset Impact Summary</a:t>
              </a:r>
            </a:p>
          </p:txBody>
        </p: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805A77F7-E00B-7D60-2C33-5BB87A9FF809}"/>
                </a:ext>
              </a:extLst>
            </p:cNvPr>
            <p:cNvSpPr/>
            <p:nvPr/>
          </p:nvSpPr>
          <p:spPr>
            <a:xfrm>
              <a:off x="3496824" y="765429"/>
              <a:ext cx="1479611" cy="692480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Asset Impact without FX and FX Impact by ES Segment and Adjusted Asset Group</a:t>
              </a:r>
            </a:p>
          </p:txBody>
        </p:sp>
        <p:sp>
          <p:nvSpPr>
            <p:cNvPr id="19" name="Flowchart: Process 18">
              <a:extLst>
                <a:ext uri="{FF2B5EF4-FFF2-40B4-BE49-F238E27FC236}">
                  <a16:creationId xmlns:a16="http://schemas.microsoft.com/office/drawing/2014/main" id="{34EA1D03-C605-25DE-C171-4899A995495F}"/>
                </a:ext>
              </a:extLst>
            </p:cNvPr>
            <p:cNvSpPr/>
            <p:nvPr/>
          </p:nvSpPr>
          <p:spPr>
            <a:xfrm>
              <a:off x="1688482" y="2170880"/>
              <a:ext cx="1572008" cy="357496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B1 ALDA Shock Factors by ES Segment</a:t>
              </a:r>
            </a:p>
          </p:txBody>
        </p:sp>
        <p:sp>
          <p:nvSpPr>
            <p:cNvPr id="20" name="Flowchart: Process 19">
              <a:extLst>
                <a:ext uri="{FF2B5EF4-FFF2-40B4-BE49-F238E27FC236}">
                  <a16:creationId xmlns:a16="http://schemas.microsoft.com/office/drawing/2014/main" id="{39B506D5-1D6E-678A-DF69-78D854409D5C}"/>
                </a:ext>
              </a:extLst>
            </p:cNvPr>
            <p:cNvSpPr/>
            <p:nvPr/>
          </p:nvSpPr>
          <p:spPr>
            <a:xfrm>
              <a:off x="1800450" y="3884313"/>
              <a:ext cx="1348072" cy="357496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Public Equity(PE) Impact Summary</a:t>
              </a:r>
            </a:p>
          </p:txBody>
        </p:sp>
        <p:sp>
          <p:nvSpPr>
            <p:cNvPr id="27" name="Flowchart: Process 26">
              <a:extLst>
                <a:ext uri="{FF2B5EF4-FFF2-40B4-BE49-F238E27FC236}">
                  <a16:creationId xmlns:a16="http://schemas.microsoft.com/office/drawing/2014/main" id="{B6A94EDE-50B6-CC85-D9B4-B3CAB97F495F}"/>
                </a:ext>
              </a:extLst>
            </p:cNvPr>
            <p:cNvSpPr/>
            <p:nvPr/>
          </p:nvSpPr>
          <p:spPr>
            <a:xfrm>
              <a:off x="1800450" y="2914269"/>
              <a:ext cx="1348072" cy="500757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Interest Rate(IR), ALDA Earning Sensitivity Summary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B6AC354-D091-B2FE-9674-9CB78A2F9EC1}"/>
                </a:ext>
              </a:extLst>
            </p:cNvPr>
            <p:cNvCxnSpPr>
              <a:cxnSpLocks/>
              <a:stCxn id="22" idx="3"/>
              <a:endCxn id="13" idx="1"/>
            </p:cNvCxnSpPr>
            <p:nvPr/>
          </p:nvCxnSpPr>
          <p:spPr>
            <a:xfrm flipV="1">
              <a:off x="1403238" y="1613625"/>
              <a:ext cx="397212" cy="336381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3C8BF3C-33B4-C78E-5E1C-39238D855434}"/>
                </a:ext>
              </a:extLst>
            </p:cNvPr>
            <p:cNvCxnSpPr>
              <a:cxnSpLocks/>
              <a:stCxn id="13" idx="2"/>
              <a:endCxn id="19" idx="0"/>
            </p:cNvCxnSpPr>
            <p:nvPr/>
          </p:nvCxnSpPr>
          <p:spPr>
            <a:xfrm>
              <a:off x="2474486" y="1792373"/>
              <a:ext cx="0" cy="378507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>
              <a:extLst>
                <a:ext uri="{FF2B5EF4-FFF2-40B4-BE49-F238E27FC236}">
                  <a16:creationId xmlns:a16="http://schemas.microsoft.com/office/drawing/2014/main" id="{A9BAFFEF-D109-8EFA-7519-02E85BF4F659}"/>
                </a:ext>
              </a:extLst>
            </p:cNvPr>
            <p:cNvCxnSpPr>
              <a:cxnSpLocks/>
              <a:stCxn id="25" idx="3"/>
              <a:endCxn id="13" idx="1"/>
            </p:cNvCxnSpPr>
            <p:nvPr/>
          </p:nvCxnSpPr>
          <p:spPr>
            <a:xfrm>
              <a:off x="1403238" y="1242187"/>
              <a:ext cx="397212" cy="371438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" name="Flowchart: Process 228">
              <a:extLst>
                <a:ext uri="{FF2B5EF4-FFF2-40B4-BE49-F238E27FC236}">
                  <a16:creationId xmlns:a16="http://schemas.microsoft.com/office/drawing/2014/main" id="{1EB05142-1F91-2851-CB19-B0A2CC27FC01}"/>
                </a:ext>
              </a:extLst>
            </p:cNvPr>
            <p:cNvSpPr/>
            <p:nvPr/>
          </p:nvSpPr>
          <p:spPr>
            <a:xfrm>
              <a:off x="145774" y="2464063"/>
              <a:ext cx="1247465" cy="1022617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ES Segment Mapping (Category, ES Scaling Method, Currency, Tax, Minority Interest)</a:t>
              </a:r>
            </a:p>
          </p:txBody>
        </p: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62C94226-AF8F-38D8-61AF-CBC5E35A7E25}"/>
                </a:ext>
              </a:extLst>
            </p:cNvPr>
            <p:cNvCxnSpPr>
              <a:cxnSpLocks/>
              <a:stCxn id="229" idx="3"/>
              <a:endCxn id="27" idx="1"/>
            </p:cNvCxnSpPr>
            <p:nvPr/>
          </p:nvCxnSpPr>
          <p:spPr>
            <a:xfrm>
              <a:off x="1393239" y="2975372"/>
              <a:ext cx="407211" cy="189276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8E533C29-5DC2-AF66-3134-A7603F52987B}"/>
                </a:ext>
              </a:extLst>
            </p:cNvPr>
            <p:cNvCxnSpPr>
              <a:cxnSpLocks/>
              <a:stCxn id="18" idx="3"/>
              <a:endCxn id="27" idx="1"/>
            </p:cNvCxnSpPr>
            <p:nvPr/>
          </p:nvCxnSpPr>
          <p:spPr>
            <a:xfrm flipV="1">
              <a:off x="1384822" y="3164648"/>
              <a:ext cx="415628" cy="879115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DA5FD9AE-2566-F932-1E7C-E496A0F98B7D}"/>
                </a:ext>
              </a:extLst>
            </p:cNvPr>
            <p:cNvCxnSpPr>
              <a:cxnSpLocks/>
              <a:stCxn id="19" idx="2"/>
              <a:endCxn id="27" idx="0"/>
            </p:cNvCxnSpPr>
            <p:nvPr/>
          </p:nvCxnSpPr>
          <p:spPr>
            <a:xfrm>
              <a:off x="2474486" y="2528376"/>
              <a:ext cx="0" cy="385893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>
              <a:extLst>
                <a:ext uri="{FF2B5EF4-FFF2-40B4-BE49-F238E27FC236}">
                  <a16:creationId xmlns:a16="http://schemas.microsoft.com/office/drawing/2014/main" id="{C68BC2B3-0C5A-9A70-B4F4-5663591E1EC0}"/>
                </a:ext>
              </a:extLst>
            </p:cNvPr>
            <p:cNvCxnSpPr>
              <a:cxnSpLocks/>
              <a:stCxn id="23" idx="3"/>
              <a:endCxn id="27" idx="1"/>
            </p:cNvCxnSpPr>
            <p:nvPr/>
          </p:nvCxnSpPr>
          <p:spPr>
            <a:xfrm flipV="1">
              <a:off x="1383907" y="3164648"/>
              <a:ext cx="416543" cy="1764700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>
              <a:extLst>
                <a:ext uri="{FF2B5EF4-FFF2-40B4-BE49-F238E27FC236}">
                  <a16:creationId xmlns:a16="http://schemas.microsoft.com/office/drawing/2014/main" id="{1CF048D6-26C7-F71E-B923-EA8C7786B9C6}"/>
                </a:ext>
              </a:extLst>
            </p:cNvPr>
            <p:cNvCxnSpPr>
              <a:cxnSpLocks/>
              <a:stCxn id="22" idx="3"/>
              <a:endCxn id="20" idx="1"/>
            </p:cNvCxnSpPr>
            <p:nvPr/>
          </p:nvCxnSpPr>
          <p:spPr>
            <a:xfrm>
              <a:off x="1403238" y="1950006"/>
              <a:ext cx="397212" cy="2113055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7D6BC0DA-2337-379F-CB24-DDBA861C886B}"/>
                </a:ext>
              </a:extLst>
            </p:cNvPr>
            <p:cNvCxnSpPr>
              <a:cxnSpLocks/>
              <a:stCxn id="25" idx="3"/>
              <a:endCxn id="20" idx="1"/>
            </p:cNvCxnSpPr>
            <p:nvPr/>
          </p:nvCxnSpPr>
          <p:spPr>
            <a:xfrm>
              <a:off x="1403238" y="1242187"/>
              <a:ext cx="397212" cy="2820874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>
              <a:extLst>
                <a:ext uri="{FF2B5EF4-FFF2-40B4-BE49-F238E27FC236}">
                  <a16:creationId xmlns:a16="http://schemas.microsoft.com/office/drawing/2014/main" id="{316D2D1E-DA6F-29A7-5A6C-5F39E99B4954}"/>
                </a:ext>
              </a:extLst>
            </p:cNvPr>
            <p:cNvCxnSpPr>
              <a:cxnSpLocks/>
              <a:stCxn id="18" idx="3"/>
              <a:endCxn id="20" idx="1"/>
            </p:cNvCxnSpPr>
            <p:nvPr/>
          </p:nvCxnSpPr>
          <p:spPr>
            <a:xfrm>
              <a:off x="1384822" y="4043763"/>
              <a:ext cx="415628" cy="19298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0" name="Flowchart: Process 249">
              <a:extLst>
                <a:ext uri="{FF2B5EF4-FFF2-40B4-BE49-F238E27FC236}">
                  <a16:creationId xmlns:a16="http://schemas.microsoft.com/office/drawing/2014/main" id="{F5C5789E-94E5-61AB-3BDB-2F2822416A12}"/>
                </a:ext>
              </a:extLst>
            </p:cNvPr>
            <p:cNvSpPr/>
            <p:nvPr/>
          </p:nvSpPr>
          <p:spPr>
            <a:xfrm>
              <a:off x="3506169" y="1659535"/>
              <a:ext cx="1479608" cy="1507715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ES-based IR, ALDA Liability/Net </a:t>
              </a:r>
              <a:r>
                <a:rPr lang="en-US" sz="1050" b="1" dirty="0">
                  <a:solidFill>
                    <a:schemeClr val="tx1"/>
                  </a:solidFill>
                </a:rPr>
                <a:t>Balance-Sheet (BS, P&amp;L/OCI/CSM)</a:t>
              </a:r>
              <a:r>
                <a:rPr lang="en-US" sz="1050" dirty="0">
                  <a:solidFill>
                    <a:schemeClr val="tx1"/>
                  </a:solidFill>
                </a:rPr>
                <a:t> Impact;</a:t>
              </a:r>
            </a:p>
            <a:p>
              <a:r>
                <a:rPr lang="en-US" sz="1050" dirty="0">
                  <a:solidFill>
                    <a:schemeClr val="tx1"/>
                  </a:solidFill>
                </a:rPr>
                <a:t> </a:t>
              </a:r>
            </a:p>
            <a:p>
              <a:r>
                <a:rPr lang="en-US" sz="1050" dirty="0">
                  <a:solidFill>
                    <a:schemeClr val="tx1"/>
                  </a:solidFill>
                </a:rPr>
                <a:t>Public Equity Asset/Liability/Net BS Impact by ES Segment</a:t>
              </a:r>
            </a:p>
          </p:txBody>
        </p:sp>
        <p:sp>
          <p:nvSpPr>
            <p:cNvPr id="255" name="Flowchart: Process 254">
              <a:extLst>
                <a:ext uri="{FF2B5EF4-FFF2-40B4-BE49-F238E27FC236}">
                  <a16:creationId xmlns:a16="http://schemas.microsoft.com/office/drawing/2014/main" id="{8CFB3DAE-0128-029D-73B5-173D936B1AD5}"/>
                </a:ext>
              </a:extLst>
            </p:cNvPr>
            <p:cNvSpPr/>
            <p:nvPr/>
          </p:nvSpPr>
          <p:spPr>
            <a:xfrm>
              <a:off x="3496171" y="4108971"/>
              <a:ext cx="1489608" cy="1683922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ES-based FX Liability/Net BS Impact (Base Currency Translation + IR, ALDA Sensitivity);</a:t>
              </a:r>
            </a:p>
            <a:p>
              <a:endParaRPr lang="en-US" sz="1050" dirty="0">
                <a:solidFill>
                  <a:schemeClr val="tx1"/>
                </a:solidFill>
              </a:endParaRPr>
            </a:p>
            <a:p>
              <a:r>
                <a:rPr lang="en-US" sz="1050" dirty="0">
                  <a:solidFill>
                    <a:schemeClr val="tx1"/>
                  </a:solidFill>
                </a:rPr>
                <a:t>FX BS Impact (PE Base Currency Translation + PE Sensitivity)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81500976-CF98-9C8D-0101-C07A927C7E31}"/>
                </a:ext>
              </a:extLst>
            </p:cNvPr>
            <p:cNvCxnSpPr>
              <a:cxnSpLocks/>
              <a:stCxn id="13" idx="3"/>
              <a:endCxn id="14" idx="1"/>
            </p:cNvCxnSpPr>
            <p:nvPr/>
          </p:nvCxnSpPr>
          <p:spPr>
            <a:xfrm flipV="1">
              <a:off x="3148522" y="1111669"/>
              <a:ext cx="348302" cy="501956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62C4C02-4AA3-C5A2-CE20-5BC319FDF494}"/>
                </a:ext>
              </a:extLst>
            </p:cNvPr>
            <p:cNvCxnSpPr>
              <a:cxnSpLocks/>
              <a:stCxn id="27" idx="3"/>
              <a:endCxn id="250" idx="1"/>
            </p:cNvCxnSpPr>
            <p:nvPr/>
          </p:nvCxnSpPr>
          <p:spPr>
            <a:xfrm flipV="1">
              <a:off x="3148522" y="2413393"/>
              <a:ext cx="357647" cy="751255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49546D6-9BEF-22CC-C492-762ACCA4FD30}"/>
                </a:ext>
              </a:extLst>
            </p:cNvPr>
            <p:cNvCxnSpPr>
              <a:cxnSpLocks/>
              <a:stCxn id="27" idx="3"/>
              <a:endCxn id="255" idx="1"/>
            </p:cNvCxnSpPr>
            <p:nvPr/>
          </p:nvCxnSpPr>
          <p:spPr>
            <a:xfrm>
              <a:off x="3148522" y="3164648"/>
              <a:ext cx="347649" cy="1786284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8636255B-68C1-DB6A-4974-F323E1C56C9D}"/>
                </a:ext>
              </a:extLst>
            </p:cNvPr>
            <p:cNvCxnSpPr>
              <a:cxnSpLocks/>
              <a:stCxn id="20" idx="3"/>
              <a:endCxn id="255" idx="1"/>
            </p:cNvCxnSpPr>
            <p:nvPr/>
          </p:nvCxnSpPr>
          <p:spPr>
            <a:xfrm>
              <a:off x="3148522" y="4063061"/>
              <a:ext cx="347649" cy="887871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Flowchart: Process 171">
              <a:extLst>
                <a:ext uri="{FF2B5EF4-FFF2-40B4-BE49-F238E27FC236}">
                  <a16:creationId xmlns:a16="http://schemas.microsoft.com/office/drawing/2014/main" id="{9F4A1A2F-6054-5999-73CB-A2CB5FCD4D25}"/>
                </a:ext>
              </a:extLst>
            </p:cNvPr>
            <p:cNvSpPr/>
            <p:nvPr/>
          </p:nvSpPr>
          <p:spPr>
            <a:xfrm>
              <a:off x="5716240" y="1367535"/>
              <a:ext cx="1348072" cy="492179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BS Impact (excl. FX) Summary (Liability ES, non-Par)</a:t>
              </a:r>
            </a:p>
          </p:txBody>
        </p:sp>
        <p:sp>
          <p:nvSpPr>
            <p:cNvPr id="181" name="Flowchart: Process 180">
              <a:extLst>
                <a:ext uri="{FF2B5EF4-FFF2-40B4-BE49-F238E27FC236}">
                  <a16:creationId xmlns:a16="http://schemas.microsoft.com/office/drawing/2014/main" id="{009D277F-6DDA-F258-3B27-CBA7A641FFAE}"/>
                </a:ext>
              </a:extLst>
            </p:cNvPr>
            <p:cNvSpPr/>
            <p:nvPr/>
          </p:nvSpPr>
          <p:spPr>
            <a:xfrm>
              <a:off x="3506169" y="3391698"/>
              <a:ext cx="1479606" cy="493579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Passthrough Ratio and Indicators for Par Segment</a:t>
              </a:r>
            </a:p>
          </p:txBody>
        </p:sp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011C0353-508F-8AE6-C2D1-9747DA0E734E}"/>
                </a:ext>
              </a:extLst>
            </p:cNvPr>
            <p:cNvCxnSpPr>
              <a:cxnSpLocks/>
              <a:stCxn id="27" idx="3"/>
              <a:endCxn id="181" idx="1"/>
            </p:cNvCxnSpPr>
            <p:nvPr/>
          </p:nvCxnSpPr>
          <p:spPr>
            <a:xfrm>
              <a:off x="3148522" y="3164648"/>
              <a:ext cx="357647" cy="473840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Flowchart: Process 190">
              <a:extLst>
                <a:ext uri="{FF2B5EF4-FFF2-40B4-BE49-F238E27FC236}">
                  <a16:creationId xmlns:a16="http://schemas.microsoft.com/office/drawing/2014/main" id="{8F84A7D4-451F-1C04-C09D-D00E3484C4AA}"/>
                </a:ext>
              </a:extLst>
            </p:cNvPr>
            <p:cNvSpPr/>
            <p:nvPr/>
          </p:nvSpPr>
          <p:spPr>
            <a:xfrm>
              <a:off x="5716240" y="2109701"/>
              <a:ext cx="1348072" cy="492179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BS Impact (excl. FX) Summary (Liability ES, Par)</a:t>
              </a:r>
            </a:p>
          </p:txBody>
        </p:sp>
        <p:sp>
          <p:nvSpPr>
            <p:cNvPr id="192" name="Flowchart: Process 191">
              <a:extLst>
                <a:ext uri="{FF2B5EF4-FFF2-40B4-BE49-F238E27FC236}">
                  <a16:creationId xmlns:a16="http://schemas.microsoft.com/office/drawing/2014/main" id="{05BC6D09-3392-7EFE-9134-50157BD92870}"/>
                </a:ext>
              </a:extLst>
            </p:cNvPr>
            <p:cNvSpPr/>
            <p:nvPr/>
          </p:nvSpPr>
          <p:spPr>
            <a:xfrm>
              <a:off x="5721540" y="2853121"/>
              <a:ext cx="1348072" cy="331806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BS Impact (excl. FX) Summary (Net ES)</a:t>
              </a:r>
            </a:p>
          </p:txBody>
        </p:sp>
        <p:sp>
          <p:nvSpPr>
            <p:cNvPr id="212" name="Flowchart: Process 211">
              <a:extLst>
                <a:ext uri="{FF2B5EF4-FFF2-40B4-BE49-F238E27FC236}">
                  <a16:creationId xmlns:a16="http://schemas.microsoft.com/office/drawing/2014/main" id="{D6AF4AB5-F997-8AF2-2308-4B4DA5C83F95}"/>
                </a:ext>
              </a:extLst>
            </p:cNvPr>
            <p:cNvSpPr/>
            <p:nvPr/>
          </p:nvSpPr>
          <p:spPr>
            <a:xfrm>
              <a:off x="5721540" y="3516427"/>
              <a:ext cx="1348072" cy="492179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FX BS Impact Summary (Liability ES, non-Par)</a:t>
              </a:r>
            </a:p>
          </p:txBody>
        </p:sp>
        <p:sp>
          <p:nvSpPr>
            <p:cNvPr id="214" name="Flowchart: Process 213">
              <a:extLst>
                <a:ext uri="{FF2B5EF4-FFF2-40B4-BE49-F238E27FC236}">
                  <a16:creationId xmlns:a16="http://schemas.microsoft.com/office/drawing/2014/main" id="{93C9EEAD-7DCB-8D44-9B18-46F465210866}"/>
                </a:ext>
              </a:extLst>
            </p:cNvPr>
            <p:cNvSpPr/>
            <p:nvPr/>
          </p:nvSpPr>
          <p:spPr>
            <a:xfrm>
              <a:off x="5721540" y="4177152"/>
              <a:ext cx="1348072" cy="459353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FX BS Impact Summary (Liability ES, Par)</a:t>
              </a:r>
            </a:p>
          </p:txBody>
        </p:sp>
        <p:sp>
          <p:nvSpPr>
            <p:cNvPr id="216" name="Flowchart: Process 215">
              <a:extLst>
                <a:ext uri="{FF2B5EF4-FFF2-40B4-BE49-F238E27FC236}">
                  <a16:creationId xmlns:a16="http://schemas.microsoft.com/office/drawing/2014/main" id="{6684109B-7837-5197-B05A-AA9B921D7003}"/>
                </a:ext>
              </a:extLst>
            </p:cNvPr>
            <p:cNvSpPr/>
            <p:nvPr/>
          </p:nvSpPr>
          <p:spPr>
            <a:xfrm>
              <a:off x="5721540" y="4861337"/>
              <a:ext cx="1348072" cy="352508"/>
            </a:xfrm>
            <a:prstGeom prst="flowChartProcess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FX BS Impact Summary (Net ES)</a:t>
              </a:r>
            </a:p>
          </p:txBody>
        </p: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A9A01DEA-2B5A-BC21-4FF0-4600B22B3006}"/>
                </a:ext>
              </a:extLst>
            </p:cNvPr>
            <p:cNvCxnSpPr>
              <a:cxnSpLocks/>
              <a:stCxn id="14" idx="3"/>
              <a:endCxn id="172" idx="1"/>
            </p:cNvCxnSpPr>
            <p:nvPr/>
          </p:nvCxnSpPr>
          <p:spPr>
            <a:xfrm>
              <a:off x="4976435" y="1111669"/>
              <a:ext cx="739805" cy="501956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57C1E509-5B29-F023-FD49-56321328A2CA}"/>
                </a:ext>
              </a:extLst>
            </p:cNvPr>
            <p:cNvCxnSpPr>
              <a:cxnSpLocks/>
              <a:stCxn id="250" idx="3"/>
              <a:endCxn id="172" idx="1"/>
            </p:cNvCxnSpPr>
            <p:nvPr/>
          </p:nvCxnSpPr>
          <p:spPr>
            <a:xfrm flipV="1">
              <a:off x="4985777" y="1613625"/>
              <a:ext cx="730463" cy="799768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270CB560-3C87-F845-D161-AA0B7A2BA9A9}"/>
                </a:ext>
              </a:extLst>
            </p:cNvPr>
            <p:cNvCxnSpPr>
              <a:cxnSpLocks/>
              <a:stCxn id="14" idx="3"/>
              <a:endCxn id="191" idx="1"/>
            </p:cNvCxnSpPr>
            <p:nvPr/>
          </p:nvCxnSpPr>
          <p:spPr>
            <a:xfrm>
              <a:off x="4976435" y="1111669"/>
              <a:ext cx="739805" cy="1244122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015D4FCC-BD47-05E3-33C8-8C5034A11E02}"/>
                </a:ext>
              </a:extLst>
            </p:cNvPr>
            <p:cNvCxnSpPr>
              <a:cxnSpLocks/>
              <a:stCxn id="250" idx="3"/>
              <a:endCxn id="191" idx="1"/>
            </p:cNvCxnSpPr>
            <p:nvPr/>
          </p:nvCxnSpPr>
          <p:spPr>
            <a:xfrm flipV="1">
              <a:off x="4985777" y="2355791"/>
              <a:ext cx="730463" cy="57602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1478F75F-550B-65BF-1B07-900FC2BC3756}"/>
                </a:ext>
              </a:extLst>
            </p:cNvPr>
            <p:cNvCxnSpPr>
              <a:cxnSpLocks/>
              <a:stCxn id="181" idx="3"/>
              <a:endCxn id="191" idx="1"/>
            </p:cNvCxnSpPr>
            <p:nvPr/>
          </p:nvCxnSpPr>
          <p:spPr>
            <a:xfrm flipV="1">
              <a:off x="4985775" y="2355791"/>
              <a:ext cx="730465" cy="1282697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5B69427C-0A03-720B-C7B7-F848F92BF9B8}"/>
                </a:ext>
              </a:extLst>
            </p:cNvPr>
            <p:cNvCxnSpPr>
              <a:cxnSpLocks/>
              <a:stCxn id="250" idx="3"/>
              <a:endCxn id="192" idx="1"/>
            </p:cNvCxnSpPr>
            <p:nvPr/>
          </p:nvCxnSpPr>
          <p:spPr>
            <a:xfrm>
              <a:off x="4985777" y="2413393"/>
              <a:ext cx="735763" cy="605631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5039D52F-8656-C790-8644-93A7E7A6929F}"/>
                </a:ext>
              </a:extLst>
            </p:cNvPr>
            <p:cNvCxnSpPr>
              <a:cxnSpLocks/>
              <a:stCxn id="255" idx="3"/>
              <a:endCxn id="216" idx="1"/>
            </p:cNvCxnSpPr>
            <p:nvPr/>
          </p:nvCxnSpPr>
          <p:spPr>
            <a:xfrm>
              <a:off x="4985779" y="4950932"/>
              <a:ext cx="735761" cy="86659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Arrow Connector 295">
              <a:extLst>
                <a:ext uri="{FF2B5EF4-FFF2-40B4-BE49-F238E27FC236}">
                  <a16:creationId xmlns:a16="http://schemas.microsoft.com/office/drawing/2014/main" id="{B8024C61-FB46-7562-0FAB-5E8680E83DF7}"/>
                </a:ext>
              </a:extLst>
            </p:cNvPr>
            <p:cNvCxnSpPr>
              <a:cxnSpLocks/>
              <a:stCxn id="14" idx="3"/>
              <a:endCxn id="212" idx="1"/>
            </p:cNvCxnSpPr>
            <p:nvPr/>
          </p:nvCxnSpPr>
          <p:spPr>
            <a:xfrm>
              <a:off x="4976435" y="1111669"/>
              <a:ext cx="745105" cy="2650848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44CF3059-7330-63D8-4325-4F3A5AB4F9C9}"/>
                </a:ext>
              </a:extLst>
            </p:cNvPr>
            <p:cNvCxnSpPr>
              <a:cxnSpLocks/>
              <a:stCxn id="14" idx="3"/>
              <a:endCxn id="214" idx="1"/>
            </p:cNvCxnSpPr>
            <p:nvPr/>
          </p:nvCxnSpPr>
          <p:spPr>
            <a:xfrm>
              <a:off x="4976435" y="1111669"/>
              <a:ext cx="745105" cy="3295160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7AC117AB-21CD-8308-B9B5-5005F0CDC018}"/>
                </a:ext>
              </a:extLst>
            </p:cNvPr>
            <p:cNvCxnSpPr>
              <a:cxnSpLocks/>
              <a:stCxn id="181" idx="3"/>
              <a:endCxn id="214" idx="1"/>
            </p:cNvCxnSpPr>
            <p:nvPr/>
          </p:nvCxnSpPr>
          <p:spPr>
            <a:xfrm>
              <a:off x="4985775" y="3638488"/>
              <a:ext cx="735765" cy="768341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11B60549-F88E-8D20-6052-EA3B9454D583}"/>
                </a:ext>
              </a:extLst>
            </p:cNvPr>
            <p:cNvCxnSpPr>
              <a:cxnSpLocks/>
              <a:stCxn id="255" idx="3"/>
              <a:endCxn id="212" idx="1"/>
            </p:cNvCxnSpPr>
            <p:nvPr/>
          </p:nvCxnSpPr>
          <p:spPr>
            <a:xfrm flipV="1">
              <a:off x="4985779" y="3762517"/>
              <a:ext cx="735761" cy="1188415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Arrow Connector 305">
              <a:extLst>
                <a:ext uri="{FF2B5EF4-FFF2-40B4-BE49-F238E27FC236}">
                  <a16:creationId xmlns:a16="http://schemas.microsoft.com/office/drawing/2014/main" id="{FA2DD73C-808F-2C6F-5819-214AE67D4676}"/>
                </a:ext>
              </a:extLst>
            </p:cNvPr>
            <p:cNvCxnSpPr>
              <a:cxnSpLocks/>
              <a:stCxn id="255" idx="3"/>
              <a:endCxn id="214" idx="1"/>
            </p:cNvCxnSpPr>
            <p:nvPr/>
          </p:nvCxnSpPr>
          <p:spPr>
            <a:xfrm flipV="1">
              <a:off x="4985779" y="4406829"/>
              <a:ext cx="735761" cy="544103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Arrow Connector 383">
              <a:extLst>
                <a:ext uri="{FF2B5EF4-FFF2-40B4-BE49-F238E27FC236}">
                  <a16:creationId xmlns:a16="http://schemas.microsoft.com/office/drawing/2014/main" id="{4C757C7A-981F-771A-04FC-E66C1D2348B3}"/>
                </a:ext>
              </a:extLst>
            </p:cNvPr>
            <p:cNvCxnSpPr>
              <a:cxnSpLocks/>
              <a:stCxn id="20" idx="3"/>
              <a:endCxn id="250" idx="1"/>
            </p:cNvCxnSpPr>
            <p:nvPr/>
          </p:nvCxnSpPr>
          <p:spPr>
            <a:xfrm flipV="1">
              <a:off x="3148522" y="2413393"/>
              <a:ext cx="357647" cy="1649668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0" name="Flowchart: Process 479">
              <a:extLst>
                <a:ext uri="{FF2B5EF4-FFF2-40B4-BE49-F238E27FC236}">
                  <a16:creationId xmlns:a16="http://schemas.microsoft.com/office/drawing/2014/main" id="{56268DB7-68DA-4588-E1BB-AA467923F929}"/>
                </a:ext>
              </a:extLst>
            </p:cNvPr>
            <p:cNvSpPr/>
            <p:nvPr/>
          </p:nvSpPr>
          <p:spPr>
            <a:xfrm>
              <a:off x="7568608" y="4277821"/>
              <a:ext cx="1479611" cy="583516"/>
            </a:xfrm>
            <a:prstGeom prst="flowChartProcess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Earning (P&amp;L) and BS Impact at company level by Asset Group</a:t>
              </a:r>
            </a:p>
          </p:txBody>
        </p:sp>
        <p:sp>
          <p:nvSpPr>
            <p:cNvPr id="493" name="Flowchart: Process 492">
              <a:extLst>
                <a:ext uri="{FF2B5EF4-FFF2-40B4-BE49-F238E27FC236}">
                  <a16:creationId xmlns:a16="http://schemas.microsoft.com/office/drawing/2014/main" id="{777E0FC9-BA5E-596B-9902-3F825D848ACC}"/>
                </a:ext>
              </a:extLst>
            </p:cNvPr>
            <p:cNvSpPr/>
            <p:nvPr/>
          </p:nvSpPr>
          <p:spPr>
            <a:xfrm>
              <a:off x="7568609" y="2759545"/>
              <a:ext cx="1479611" cy="990753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Net BS</a:t>
              </a:r>
              <a:r>
                <a:rPr lang="en-US" sz="1050" b="1" dirty="0">
                  <a:solidFill>
                    <a:schemeClr val="tx1"/>
                  </a:solidFill>
                </a:rPr>
                <a:t> </a:t>
              </a:r>
              <a:r>
                <a:rPr lang="en-US" sz="1050" dirty="0">
                  <a:solidFill>
                    <a:schemeClr val="tx1"/>
                  </a:solidFill>
                </a:rPr>
                <a:t>Impact by Asset Group (IR, Public Equity, ALDA, Currency(FX)) and ES Segment</a:t>
              </a:r>
            </a:p>
          </p:txBody>
        </p: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D207DC48-79EB-AE4F-470D-B9FAEC74C7BC}"/>
                </a:ext>
              </a:extLst>
            </p:cNvPr>
            <p:cNvCxnSpPr>
              <a:cxnSpLocks/>
              <a:stCxn id="436" idx="3"/>
              <a:endCxn id="493" idx="1"/>
            </p:cNvCxnSpPr>
            <p:nvPr/>
          </p:nvCxnSpPr>
          <p:spPr>
            <a:xfrm flipV="1">
              <a:off x="7186506" y="3254922"/>
              <a:ext cx="382103" cy="385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Arrow Connector 496">
              <a:extLst>
                <a:ext uri="{FF2B5EF4-FFF2-40B4-BE49-F238E27FC236}">
                  <a16:creationId xmlns:a16="http://schemas.microsoft.com/office/drawing/2014/main" id="{73A70A00-A889-F97E-4FED-A232EFE6EF25}"/>
                </a:ext>
              </a:extLst>
            </p:cNvPr>
            <p:cNvCxnSpPr>
              <a:cxnSpLocks/>
              <a:stCxn id="493" idx="2"/>
              <a:endCxn id="480" idx="0"/>
            </p:cNvCxnSpPr>
            <p:nvPr/>
          </p:nvCxnSpPr>
          <p:spPr>
            <a:xfrm flipH="1">
              <a:off x="8308414" y="3750298"/>
              <a:ext cx="1" cy="527523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A50CA778-18B5-272B-144A-153178DFDC6D}"/>
                </a:ext>
              </a:extLst>
            </p:cNvPr>
            <p:cNvSpPr/>
            <p:nvPr/>
          </p:nvSpPr>
          <p:spPr>
            <a:xfrm>
              <a:off x="1688482" y="4606223"/>
              <a:ext cx="1572008" cy="357496"/>
            </a:xfrm>
            <a:prstGeom prst="flowChartProcess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B1 PE Shock Factors by ES Segment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31950DB7-8DB3-91F9-06E3-B958FA62D2E9}"/>
                </a:ext>
              </a:extLst>
            </p:cNvPr>
            <p:cNvCxnSpPr>
              <a:stCxn id="20" idx="2"/>
              <a:endCxn id="4" idx="0"/>
            </p:cNvCxnSpPr>
            <p:nvPr/>
          </p:nvCxnSpPr>
          <p:spPr>
            <a:xfrm>
              <a:off x="2474486" y="4241809"/>
              <a:ext cx="0" cy="364414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Arrow Connector 510">
              <a:extLst>
                <a:ext uri="{FF2B5EF4-FFF2-40B4-BE49-F238E27FC236}">
                  <a16:creationId xmlns:a16="http://schemas.microsoft.com/office/drawing/2014/main" id="{43CBAED8-FA63-53B0-A8F1-9F5ED1325D31}"/>
                </a:ext>
              </a:extLst>
            </p:cNvPr>
            <p:cNvCxnSpPr>
              <a:stCxn id="23" idx="3"/>
              <a:endCxn id="20" idx="1"/>
            </p:cNvCxnSpPr>
            <p:nvPr/>
          </p:nvCxnSpPr>
          <p:spPr>
            <a:xfrm flipV="1">
              <a:off x="1383907" y="4063061"/>
              <a:ext cx="416543" cy="866287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Flowchart: Process 164">
              <a:extLst>
                <a:ext uri="{FF2B5EF4-FFF2-40B4-BE49-F238E27FC236}">
                  <a16:creationId xmlns:a16="http://schemas.microsoft.com/office/drawing/2014/main" id="{09C81414-26F8-2F34-466B-98382FE2E42B}"/>
                </a:ext>
              </a:extLst>
            </p:cNvPr>
            <p:cNvSpPr/>
            <p:nvPr/>
          </p:nvSpPr>
          <p:spPr>
            <a:xfrm>
              <a:off x="7568609" y="1256189"/>
              <a:ext cx="1479610" cy="748045"/>
            </a:xfrm>
            <a:prstGeom prst="flowChartProcess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US" sz="1050" dirty="0">
                  <a:solidFill>
                    <a:schemeClr val="tx1"/>
                  </a:solidFill>
                </a:rPr>
                <a:t>ES Segment Mapping (Category, ES Scaling Method, Investment Contract)</a:t>
              </a:r>
            </a:p>
          </p:txBody>
        </p:sp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58E2589F-56CB-C21C-2197-DC278C0AC0CB}"/>
                </a:ext>
              </a:extLst>
            </p:cNvPr>
            <p:cNvCxnSpPr>
              <a:stCxn id="165" idx="1"/>
            </p:cNvCxnSpPr>
            <p:nvPr/>
          </p:nvCxnSpPr>
          <p:spPr>
            <a:xfrm flipH="1" flipV="1">
              <a:off x="7186506" y="1630211"/>
              <a:ext cx="382103" cy="1"/>
            </a:xfrm>
            <a:prstGeom prst="straightConnector1">
              <a:avLst/>
            </a:prstGeom>
            <a:ln w="12700">
              <a:solidFill>
                <a:schemeClr val="tx1"/>
              </a:solidFill>
              <a:miter lim="800000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7584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C508F-8866-57B3-94CB-FF9A63CE7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0AE2E-1D26-C1FD-EDB7-4D2EA00D8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18" y="83214"/>
            <a:ext cx="8727574" cy="364738"/>
          </a:xfrm>
        </p:spPr>
        <p:txBody>
          <a:bodyPr/>
          <a:lstStyle/>
          <a:p>
            <a:r>
              <a:rPr lang="en-CA" dirty="0" err="1"/>
              <a:t>BarraOne</a:t>
            </a:r>
            <a:r>
              <a:rPr lang="en-CA" dirty="0"/>
              <a:t> Stress Test Automation – Data Format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5B47-5707-EA82-EC72-3E5AD497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8133" y="6399283"/>
            <a:ext cx="212470" cy="175694"/>
          </a:xfrm>
        </p:spPr>
        <p:txBody>
          <a:bodyPr/>
          <a:lstStyle/>
          <a:p>
            <a:fld id="{BB333B34-C87C-402E-ABB0-13B7C9DEBBC4}" type="slidenum">
              <a:rPr lang="en-CA" smtClean="0"/>
              <a:pPr/>
              <a:t>18</a:t>
            </a:fld>
            <a:endParaRPr lang="en-CA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A43B31-13EB-A30F-D4C1-957625987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588665"/>
              </p:ext>
            </p:extLst>
          </p:nvPr>
        </p:nvGraphicFramePr>
        <p:xfrm>
          <a:off x="158518" y="587485"/>
          <a:ext cx="1408429" cy="12573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842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B1 Stress P&amp;L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Initial Market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Asset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P&amp;L without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44567">
                <a:tc>
                  <a:txBody>
                    <a:bodyPr/>
                    <a:lstStyle/>
                    <a:p>
                      <a:r>
                        <a:rPr lang="en-US" sz="1050" dirty="0"/>
                        <a:t>P&amp;L with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1398FCF-8AB6-53B7-6696-96AD57717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903065"/>
              </p:ext>
            </p:extLst>
          </p:nvPr>
        </p:nvGraphicFramePr>
        <p:xfrm>
          <a:off x="1719549" y="584175"/>
          <a:ext cx="1813055" cy="176022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813055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B1 Reporting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Market Value (MV)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Level 2 (Segment)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Level 4 (Portfolio Code)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Primary Security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58351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Adjusted 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59902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E8B092E-1AAF-7C39-DE5A-90DCC87E1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352823"/>
              </p:ext>
            </p:extLst>
          </p:nvPr>
        </p:nvGraphicFramePr>
        <p:xfrm>
          <a:off x="158518" y="2096245"/>
          <a:ext cx="1408429" cy="91440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842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313853">
                <a:tc>
                  <a:txBody>
                    <a:bodyPr/>
                    <a:lstStyle/>
                    <a:p>
                      <a:r>
                        <a:rPr lang="en-US" sz="1050" dirty="0"/>
                        <a:t>Portfolio – ES Segment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Portfolio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9FE2A5-ABB5-94E6-F26C-ECBDF8509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288056"/>
              </p:ext>
            </p:extLst>
          </p:nvPr>
        </p:nvGraphicFramePr>
        <p:xfrm>
          <a:off x="3686474" y="589218"/>
          <a:ext cx="1605728" cy="150876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05728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A. B1 Asset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Adjusted 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MV Change without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MV Change with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920977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FX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9929869"/>
                  </a:ext>
                </a:extLst>
              </a:tr>
            </a:tbl>
          </a:graphicData>
        </a:graphic>
      </p:graphicFrame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48F4E3-CA61-8D1F-1387-C2CC042D6E77}"/>
              </a:ext>
            </a:extLst>
          </p:cNvPr>
          <p:cNvCxnSpPr>
            <a:cxnSpLocks/>
          </p:cNvCxnSpPr>
          <p:nvPr/>
        </p:nvCxnSpPr>
        <p:spPr>
          <a:xfrm>
            <a:off x="1414434" y="1166648"/>
            <a:ext cx="305116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3D7E41-CA5C-5839-D25A-77E4EA17C017}"/>
              </a:ext>
            </a:extLst>
          </p:cNvPr>
          <p:cNvCxnSpPr>
            <a:cxnSpLocks/>
          </p:cNvCxnSpPr>
          <p:nvPr/>
        </p:nvCxnSpPr>
        <p:spPr>
          <a:xfrm flipV="1">
            <a:off x="1400552" y="1712248"/>
            <a:ext cx="318998" cy="920914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FC81BE1A-5301-10B2-FB76-0D8C7A24F9B7}"/>
              </a:ext>
            </a:extLst>
          </p:cNvPr>
          <p:cNvCxnSpPr>
            <a:cxnSpLocks/>
          </p:cNvCxnSpPr>
          <p:nvPr/>
        </p:nvCxnSpPr>
        <p:spPr>
          <a:xfrm>
            <a:off x="3529841" y="1179113"/>
            <a:ext cx="196044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4" name="Table 243">
            <a:extLst>
              <a:ext uri="{FF2B5EF4-FFF2-40B4-BE49-F238E27FC236}">
                <a16:creationId xmlns:a16="http://schemas.microsoft.com/office/drawing/2014/main" id="{1B0BE101-F04A-5F8D-4102-A755B2788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387869"/>
              </p:ext>
            </p:extLst>
          </p:nvPr>
        </p:nvGraphicFramePr>
        <p:xfrm>
          <a:off x="1719550" y="2581044"/>
          <a:ext cx="1810292" cy="10058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10292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PR and ALDA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PE or ALDA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MV Change % without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graphicFrame>
        <p:nvGraphicFramePr>
          <p:cNvPr id="246" name="Table 245">
            <a:extLst>
              <a:ext uri="{FF2B5EF4-FFF2-40B4-BE49-F238E27FC236}">
                <a16:creationId xmlns:a16="http://schemas.microsoft.com/office/drawing/2014/main" id="{9A960B8E-C0C1-713D-9D95-A61E11037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382111"/>
              </p:ext>
            </p:extLst>
          </p:nvPr>
        </p:nvGraphicFramePr>
        <p:xfrm>
          <a:off x="150074" y="3315353"/>
          <a:ext cx="1416873" cy="157734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16873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B1SceShock-ES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B1 Shock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49440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Detailed ES Sensitivity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054112"/>
                  </a:ext>
                </a:extLst>
              </a:tr>
            </a:tbl>
          </a:graphicData>
        </a:graphic>
      </p:graphicFrame>
      <p:graphicFrame>
        <p:nvGraphicFramePr>
          <p:cNvPr id="251" name="Table 250">
            <a:extLst>
              <a:ext uri="{FF2B5EF4-FFF2-40B4-BE49-F238E27FC236}">
                <a16:creationId xmlns:a16="http://schemas.microsoft.com/office/drawing/2014/main" id="{13F6EBB2-3D4E-0C6E-B487-C447CDABE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530929"/>
              </p:ext>
            </p:extLst>
          </p:nvPr>
        </p:nvGraphicFramePr>
        <p:xfrm>
          <a:off x="1719549" y="4196541"/>
          <a:ext cx="1773689" cy="20116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773689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81503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Scaling Method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Currency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23756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Tax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94352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Minority Interest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54309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Investment Contract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321694"/>
                  </a:ext>
                </a:extLst>
              </a:tr>
            </a:tbl>
          </a:graphicData>
        </a:graphic>
      </p:graphicFrame>
      <p:graphicFrame>
        <p:nvGraphicFramePr>
          <p:cNvPr id="252" name="Table 251">
            <a:extLst>
              <a:ext uri="{FF2B5EF4-FFF2-40B4-BE49-F238E27FC236}">
                <a16:creationId xmlns:a16="http://schemas.microsoft.com/office/drawing/2014/main" id="{D260FF15-DB47-217E-73F9-60070FBC0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424536"/>
              </p:ext>
            </p:extLst>
          </p:nvPr>
        </p:nvGraphicFramePr>
        <p:xfrm>
          <a:off x="158520" y="5172048"/>
          <a:ext cx="1408427" cy="11658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1408427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188191">
                <a:tc>
                  <a:txBody>
                    <a:bodyPr/>
                    <a:lstStyle/>
                    <a:p>
                      <a:r>
                        <a:rPr lang="en-US" sz="1050" dirty="0"/>
                        <a:t>B1 Scenario Shocks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B1 Shock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dirty="0"/>
                        <a:t>Shock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91799">
                <a:tc>
                  <a:txBody>
                    <a:bodyPr/>
                    <a:lstStyle/>
                    <a:p>
                      <a:r>
                        <a:rPr lang="en-US" sz="1050" dirty="0"/>
                        <a:t>Shock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</a:tbl>
          </a:graphicData>
        </a:graphic>
      </p:graphicFrame>
      <p:graphicFrame>
        <p:nvGraphicFramePr>
          <p:cNvPr id="253" name="Table 252">
            <a:extLst>
              <a:ext uri="{FF2B5EF4-FFF2-40B4-BE49-F238E27FC236}">
                <a16:creationId xmlns:a16="http://schemas.microsoft.com/office/drawing/2014/main" id="{BC4B9F5A-6969-0FE3-E4D6-B9FA93B2E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121502"/>
              </p:ext>
            </p:extLst>
          </p:nvPr>
        </p:nvGraphicFramePr>
        <p:xfrm>
          <a:off x="3722752" y="4196541"/>
          <a:ext cx="4874120" cy="217747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2032751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  <a:gridCol w="2841369">
                  <a:extLst>
                    <a:ext uri="{9D8B030D-6E8A-4147-A177-3AD203B41FA5}">
                      <a16:colId xmlns:a16="http://schemas.microsoft.com/office/drawing/2014/main" val="4072336096"/>
                    </a:ext>
                  </a:extLst>
                </a:gridCol>
              </a:tblGrid>
              <a:tr h="196113">
                <a:tc>
                  <a:txBody>
                    <a:bodyPr/>
                    <a:lstStyle/>
                    <a:p>
                      <a:r>
                        <a:rPr lang="en-US" sz="1050" dirty="0"/>
                        <a:t>Quarterly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JH USD Guaranteed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IFRS17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CSM, OCI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741689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CS, RF, SS, PE, ALDA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23756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CS-50, RF+50, </a:t>
                      </a:r>
                      <a:r>
                        <a:rPr lang="en-US" sz="105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Partial RF-50-all tenors up to 10yr, PE-40%, ALDA-10%</a:t>
                      </a: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9794352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Total 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654309"/>
                  </a:ext>
                </a:extLst>
              </a:tr>
              <a:tr h="1835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321694"/>
                  </a:ext>
                </a:extLst>
              </a:tr>
            </a:tbl>
          </a:graphicData>
        </a:graphic>
      </p:graphicFrame>
      <p:graphicFrame>
        <p:nvGraphicFramePr>
          <p:cNvPr id="481" name="Table 480">
            <a:extLst>
              <a:ext uri="{FF2B5EF4-FFF2-40B4-BE49-F238E27FC236}">
                <a16:creationId xmlns:a16="http://schemas.microsoft.com/office/drawing/2014/main" id="{DAA2398B-06F3-6E6D-408C-B48D8AF1D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339751"/>
              </p:ext>
            </p:extLst>
          </p:nvPr>
        </p:nvGraphicFramePr>
        <p:xfrm>
          <a:off x="3695800" y="2575142"/>
          <a:ext cx="1605728" cy="13258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05728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B. ES Blending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Detailed ES Sensitivity Type +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Shock Factors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</a:tbl>
          </a:graphicData>
        </a:graphic>
      </p:graphicFrame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AD3AE730-AA44-77AA-FEE3-3954508D0C44}"/>
              </a:ext>
            </a:extLst>
          </p:cNvPr>
          <p:cNvCxnSpPr>
            <a:cxnSpLocks/>
          </p:cNvCxnSpPr>
          <p:nvPr/>
        </p:nvCxnSpPr>
        <p:spPr>
          <a:xfrm flipH="1">
            <a:off x="3493238" y="1497564"/>
            <a:ext cx="202562" cy="1112058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497">
            <a:extLst>
              <a:ext uri="{FF2B5EF4-FFF2-40B4-BE49-F238E27FC236}">
                <a16:creationId xmlns:a16="http://schemas.microsoft.com/office/drawing/2014/main" id="{20B984D4-EC2B-28A7-FB03-F801051A5AF1}"/>
              </a:ext>
            </a:extLst>
          </p:cNvPr>
          <p:cNvCxnSpPr>
            <a:cxnSpLocks/>
          </p:cNvCxnSpPr>
          <p:nvPr/>
        </p:nvCxnSpPr>
        <p:spPr>
          <a:xfrm>
            <a:off x="3527307" y="3010645"/>
            <a:ext cx="168493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Straight Arrow Connector 500">
            <a:extLst>
              <a:ext uri="{FF2B5EF4-FFF2-40B4-BE49-F238E27FC236}">
                <a16:creationId xmlns:a16="http://schemas.microsoft.com/office/drawing/2014/main" id="{38E72475-839D-7BA2-8814-CF7F284975F8}"/>
              </a:ext>
            </a:extLst>
          </p:cNvPr>
          <p:cNvCxnSpPr>
            <a:cxnSpLocks/>
          </p:cNvCxnSpPr>
          <p:nvPr/>
        </p:nvCxnSpPr>
        <p:spPr>
          <a:xfrm flipV="1">
            <a:off x="729684" y="4892693"/>
            <a:ext cx="0" cy="279355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Straight Arrow Connector 503">
            <a:extLst>
              <a:ext uri="{FF2B5EF4-FFF2-40B4-BE49-F238E27FC236}">
                <a16:creationId xmlns:a16="http://schemas.microsoft.com/office/drawing/2014/main" id="{134DF553-5520-0576-664E-C8E4B6DD776A}"/>
              </a:ext>
            </a:extLst>
          </p:cNvPr>
          <p:cNvCxnSpPr>
            <a:cxnSpLocks/>
          </p:cNvCxnSpPr>
          <p:nvPr/>
        </p:nvCxnSpPr>
        <p:spPr>
          <a:xfrm flipV="1">
            <a:off x="1414434" y="3383508"/>
            <a:ext cx="2311451" cy="1315953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731B2964-A9E2-8C3E-00C6-6F004C018182}"/>
              </a:ext>
            </a:extLst>
          </p:cNvPr>
          <p:cNvCxnSpPr>
            <a:cxnSpLocks/>
          </p:cNvCxnSpPr>
          <p:nvPr/>
        </p:nvCxnSpPr>
        <p:spPr>
          <a:xfrm flipH="1" flipV="1">
            <a:off x="1300849" y="4103730"/>
            <a:ext cx="481968" cy="1251622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2" name="Table 281">
            <a:extLst>
              <a:ext uri="{FF2B5EF4-FFF2-40B4-BE49-F238E27FC236}">
                <a16:creationId xmlns:a16="http://schemas.microsoft.com/office/drawing/2014/main" id="{D95714AE-31DB-B191-DB0A-F906A2EFF4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73872"/>
              </p:ext>
            </p:extLst>
          </p:nvPr>
        </p:nvGraphicFramePr>
        <p:xfrm>
          <a:off x="5476111" y="1094360"/>
          <a:ext cx="1849120" cy="283464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849120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C. ES-Based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Asset, Liability, 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 Group (IR, PE, ALDA,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22883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Blended Sensitivity (no FX)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00585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Base Currency (FX) Translation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27325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Sensitivity FX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178646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Passthrough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25794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PT Ratio Indicator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1193494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2F31D8D-434B-E0BE-209F-FE6ADF3F9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1715085"/>
              </p:ext>
            </p:extLst>
          </p:nvPr>
        </p:nvGraphicFramePr>
        <p:xfrm>
          <a:off x="7555712" y="584175"/>
          <a:ext cx="1424385" cy="16687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24385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D/E. Net Impact Summary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ES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656561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919506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Net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228833"/>
                  </a:ext>
                </a:extLst>
              </a:tr>
            </a:tbl>
          </a:graphicData>
        </a:graphic>
      </p:graphicFrame>
      <p:cxnSp>
        <p:nvCxnSpPr>
          <p:cNvPr id="303" name="Straight Arrow Connector 302">
            <a:extLst>
              <a:ext uri="{FF2B5EF4-FFF2-40B4-BE49-F238E27FC236}">
                <a16:creationId xmlns:a16="http://schemas.microsoft.com/office/drawing/2014/main" id="{1AC52F1D-E717-DD07-2C27-CF7E59225A22}"/>
              </a:ext>
            </a:extLst>
          </p:cNvPr>
          <p:cNvCxnSpPr>
            <a:cxnSpLocks/>
          </p:cNvCxnSpPr>
          <p:nvPr/>
        </p:nvCxnSpPr>
        <p:spPr>
          <a:xfrm>
            <a:off x="3348891" y="4551451"/>
            <a:ext cx="376994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306">
            <a:extLst>
              <a:ext uri="{FF2B5EF4-FFF2-40B4-BE49-F238E27FC236}">
                <a16:creationId xmlns:a16="http://schemas.microsoft.com/office/drawing/2014/main" id="{8C16681E-0D51-5ACC-89DF-3F414B283AE2}"/>
              </a:ext>
            </a:extLst>
          </p:cNvPr>
          <p:cNvCxnSpPr>
            <a:cxnSpLocks/>
          </p:cNvCxnSpPr>
          <p:nvPr/>
        </p:nvCxnSpPr>
        <p:spPr>
          <a:xfrm flipV="1">
            <a:off x="5670373" y="3929000"/>
            <a:ext cx="0" cy="267541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Arrow Connector 308">
            <a:extLst>
              <a:ext uri="{FF2B5EF4-FFF2-40B4-BE49-F238E27FC236}">
                <a16:creationId xmlns:a16="http://schemas.microsoft.com/office/drawing/2014/main" id="{ACA44E7E-E2C9-E0DC-F320-0EC774B28DF5}"/>
              </a:ext>
            </a:extLst>
          </p:cNvPr>
          <p:cNvCxnSpPr/>
          <p:nvPr/>
        </p:nvCxnSpPr>
        <p:spPr>
          <a:xfrm>
            <a:off x="5292202" y="667820"/>
            <a:ext cx="2263510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D8631203-D43B-A7DA-C464-4DE3231F8194}"/>
              </a:ext>
            </a:extLst>
          </p:cNvPr>
          <p:cNvCxnSpPr>
            <a:cxnSpLocks/>
            <a:stCxn id="282" idx="0"/>
          </p:cNvCxnSpPr>
          <p:nvPr/>
        </p:nvCxnSpPr>
        <p:spPr>
          <a:xfrm flipV="1">
            <a:off x="6400671" y="667310"/>
            <a:ext cx="1145714" cy="42705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409BFE39-3D17-D9EA-A1C0-103ADE803546}"/>
              </a:ext>
            </a:extLst>
          </p:cNvPr>
          <p:cNvCxnSpPr/>
          <p:nvPr/>
        </p:nvCxnSpPr>
        <p:spPr>
          <a:xfrm>
            <a:off x="5292202" y="2633162"/>
            <a:ext cx="193236" cy="0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4" name="Table 163">
            <a:extLst>
              <a:ext uri="{FF2B5EF4-FFF2-40B4-BE49-F238E27FC236}">
                <a16:creationId xmlns:a16="http://schemas.microsoft.com/office/drawing/2014/main" id="{A39E466C-25B0-E5C9-F6F6-9987A4F73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81203"/>
              </p:ext>
            </p:extLst>
          </p:nvPr>
        </p:nvGraphicFramePr>
        <p:xfrm>
          <a:off x="7555712" y="2540022"/>
          <a:ext cx="1424386" cy="10058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24386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Net Impact (MFC)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P&amp;L, OCI, CSM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341363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Asset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982164"/>
                  </a:ext>
                </a:extLst>
              </a:tr>
              <a:tr h="2389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Net 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228833"/>
                  </a:ext>
                </a:extLst>
              </a:tr>
            </a:tbl>
          </a:graphicData>
        </a:graphic>
      </p:graphicFrame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5CFFEE33-B7A5-9925-6A9E-333ACEA62A8C}"/>
              </a:ext>
            </a:extLst>
          </p:cNvPr>
          <p:cNvCxnSpPr>
            <a:cxnSpLocks/>
            <a:stCxn id="42" idx="2"/>
            <a:endCxn id="164" idx="0"/>
          </p:cNvCxnSpPr>
          <p:nvPr/>
        </p:nvCxnSpPr>
        <p:spPr>
          <a:xfrm>
            <a:off x="8267904" y="2252955"/>
            <a:ext cx="1" cy="287067"/>
          </a:xfrm>
          <a:prstGeom prst="straightConnector1">
            <a:avLst/>
          </a:prstGeom>
          <a:ln w="12700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3" name="Table 172">
            <a:extLst>
              <a:ext uri="{FF2B5EF4-FFF2-40B4-BE49-F238E27FC236}">
                <a16:creationId xmlns:a16="http://schemas.microsoft.com/office/drawing/2014/main" id="{79E44492-1C5F-08AB-06F4-7B009E3CC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748570"/>
              </p:ext>
            </p:extLst>
          </p:nvPr>
        </p:nvGraphicFramePr>
        <p:xfrm>
          <a:off x="2732667" y="6535526"/>
          <a:ext cx="3198777" cy="25146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582777">
                  <a:extLst>
                    <a:ext uri="{9D8B030D-6E8A-4147-A177-3AD203B41FA5}">
                      <a16:colId xmlns:a16="http://schemas.microsoft.com/office/drawing/2014/main" val="4080253541"/>
                    </a:ext>
                  </a:extLst>
                </a:gridCol>
                <a:gridCol w="1517892">
                  <a:extLst>
                    <a:ext uri="{9D8B030D-6E8A-4147-A177-3AD203B41FA5}">
                      <a16:colId xmlns:a16="http://schemas.microsoft.com/office/drawing/2014/main" val="1992401236"/>
                    </a:ext>
                  </a:extLst>
                </a:gridCol>
                <a:gridCol w="1098108">
                  <a:extLst>
                    <a:ext uri="{9D8B030D-6E8A-4147-A177-3AD203B41FA5}">
                      <a16:colId xmlns:a16="http://schemas.microsoft.com/office/drawing/2014/main" val="990122330"/>
                    </a:ext>
                  </a:extLst>
                </a:gridCol>
              </a:tblGrid>
              <a:tr h="238966">
                <a:tc>
                  <a:txBody>
                    <a:bodyPr/>
                    <a:lstStyle/>
                    <a:p>
                      <a:r>
                        <a:rPr lang="en-US" sz="1050" dirty="0"/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Intermediate Data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Final Output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50598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86727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36DA9-A050-5A96-9EB1-31C77FFF1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54254-2E5B-FA9D-72B9-1C1BA2697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5" y="80642"/>
            <a:ext cx="8504237" cy="404762"/>
          </a:xfrm>
        </p:spPr>
        <p:txBody>
          <a:bodyPr/>
          <a:lstStyle/>
          <a:p>
            <a:r>
              <a:rPr lang="en-CA" dirty="0"/>
              <a:t>Stress Test Automation – A. </a:t>
            </a:r>
            <a:r>
              <a:rPr lang="en-CA" dirty="0" err="1"/>
              <a:t>BarraOne</a:t>
            </a:r>
            <a:r>
              <a:rPr lang="en-CA" dirty="0"/>
              <a:t> Asset Impact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017B464F-C267-24E0-5660-2724D5590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484887"/>
            <a:ext cx="9042400" cy="591439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Input: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 err="1"/>
              <a:t>BarraOne</a:t>
            </a:r>
            <a:r>
              <a:rPr lang="en-US" sz="1400" dirty="0"/>
              <a:t> provides security-level market value (MV) stress impacts</a:t>
            </a:r>
            <a:r>
              <a:rPr lang="en-CA" sz="1400" dirty="0"/>
              <a:t> (with FX shocks, without FX shocks)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GA Position/Holdings with TAM Segment, portfolio, security ids (B1 Manulife Reporting Tree, Internal)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Portfolio – ES Segment mapping (manual)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Output</a:t>
            </a:r>
            <a:r>
              <a:rPr lang="en-US" sz="1600" dirty="0"/>
              <a:t>: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 err="1"/>
              <a:t>BarraOne</a:t>
            </a:r>
            <a:r>
              <a:rPr lang="en-CA" sz="1400" dirty="0"/>
              <a:t> asset impact (without FX)</a:t>
            </a:r>
            <a:r>
              <a:rPr lang="en-US" sz="1400" dirty="0"/>
              <a:t> by ES Segment and Adjusted Asset Group</a:t>
            </a:r>
            <a:endParaRPr lang="en-CA" sz="1400" dirty="0"/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FX (asset) impact </a:t>
            </a:r>
            <a:r>
              <a:rPr lang="en-US" sz="1400" dirty="0"/>
              <a:t>by ES Segment and Adjusted Asset Group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Current Process: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Pull security-level price change % from B1.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Calculate the position-level MV impact.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Aggregate MV impacts by ES segment.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Adjustments: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Replace MV impact of NDF-RA and flat-spread IRS with internal stress values (due to valuation gap).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Manually add impact for COLI and 2H7B (not yet in </a:t>
            </a:r>
            <a:r>
              <a:rPr lang="en-CA" sz="1400" dirty="0" err="1"/>
              <a:t>BarraOne</a:t>
            </a:r>
            <a:r>
              <a:rPr lang="en-CA" sz="1400" dirty="0"/>
              <a:t>).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Automation Note: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Once the gaps in step 5 are resolved, </a:t>
            </a:r>
            <a:r>
              <a:rPr lang="en-US" sz="1400" dirty="0" err="1"/>
              <a:t>BarraOne’s</a:t>
            </a:r>
            <a:r>
              <a:rPr lang="en-US" sz="1400" dirty="0"/>
              <a:t> portfolio-adjusted asset group stress test reports can be combined with 1c for the final output. Automation can be achieved without 1a/b, 3a/b, and 4a/b.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Current portfolio stress test reports cannot be used for asset allocation.</a:t>
            </a:r>
            <a:endParaRPr lang="en-CA" sz="14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DE4F9-AEFF-4347-0A18-4348FA7F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19</a:t>
            </a:fld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753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CDF53-0FFD-F8DC-4D46-0EDF731F0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031E-0010-7A3F-CEE9-565FC9B44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5" y="283023"/>
            <a:ext cx="8504237" cy="404762"/>
          </a:xfrm>
        </p:spPr>
        <p:txBody>
          <a:bodyPr/>
          <a:lstStyle/>
          <a:p>
            <a:r>
              <a:rPr lang="en-CA" dirty="0"/>
              <a:t>Stress Test Automation – B. Shock Conversion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497107FB-607C-75A3-0F8C-8B1D97159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829638"/>
            <a:ext cx="9042400" cy="519872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Input: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 err="1"/>
              <a:t>BarraOne</a:t>
            </a:r>
            <a:r>
              <a:rPr lang="en-CA" sz="1400" dirty="0"/>
              <a:t> scenario shocks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 err="1"/>
              <a:t>BarraOne</a:t>
            </a:r>
            <a:r>
              <a:rPr lang="en-CA" sz="1400" dirty="0"/>
              <a:t> Asset impact (without FX) by ES Segment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Current Process and Output: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Get IR (RF, CS, SS) shocks and FX shocks from 1a.</a:t>
            </a:r>
          </a:p>
          <a:p>
            <a:pPr marL="1133856" lvl="2" indent="-457200">
              <a:buFont typeface="+mj-lt"/>
              <a:buAutoNum type="romanLcPeriod"/>
            </a:pPr>
            <a:r>
              <a:rPr lang="en-CA" sz="1200" dirty="0"/>
              <a:t>Term structure shocks are needed for RF.</a:t>
            </a:r>
          </a:p>
          <a:p>
            <a:pPr marL="1133856" lvl="2" indent="-457200">
              <a:buFont typeface="+mj-lt"/>
              <a:buAutoNum type="romanLcPeriod"/>
            </a:pPr>
            <a:r>
              <a:rPr lang="en-CA" sz="1200" dirty="0"/>
              <a:t>If shock unit is relative in % instead of absolute in bps, base risk factor numbers are needed to calculate the shocks in bps. E.g., CS shocks in a factor scenario.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Get Public Equity and ALDA shocks from 1b.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Convert shocks to factors </a:t>
            </a:r>
            <a:r>
              <a:rPr lang="en-US" sz="1400" dirty="0"/>
              <a:t>for ES sensitivity blending </a:t>
            </a:r>
            <a:endParaRPr lang="en-CA" sz="1400" dirty="0"/>
          </a:p>
          <a:p>
            <a:pPr marL="1133856" lvl="2" indent="-457200">
              <a:buFont typeface="+mj-lt"/>
              <a:buAutoNum type="romanLcPeriod"/>
            </a:pPr>
            <a:r>
              <a:rPr lang="en-CA" sz="1200" dirty="0"/>
              <a:t>IR factors for RF+-50/100 partial, CS+-50, SS+-20 by currency</a:t>
            </a:r>
          </a:p>
          <a:p>
            <a:pPr marL="1133856" lvl="2" indent="-457200">
              <a:buFont typeface="+mj-lt"/>
              <a:buAutoNum type="romanLcPeriod"/>
            </a:pPr>
            <a:r>
              <a:rPr lang="en-CA" sz="1200" dirty="0"/>
              <a:t>PE: -40%/+-10% and ALDA: +-10% by ES Segment</a:t>
            </a:r>
          </a:p>
          <a:p>
            <a:pPr marL="1133856" lvl="2" indent="-457200">
              <a:buFont typeface="+mj-lt"/>
              <a:buAutoNum type="romanLcPeriod"/>
            </a:pPr>
            <a:r>
              <a:rPr lang="en-CA" sz="1200" dirty="0"/>
              <a:t>FX: Convert to CAD-based % shock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Automation Note: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Scenario shocks differ between </a:t>
            </a:r>
            <a:r>
              <a:rPr lang="en-US" sz="1400" dirty="0" err="1"/>
              <a:t>BarraOne</a:t>
            </a:r>
            <a:r>
              <a:rPr lang="en-US" sz="1400" dirty="0"/>
              <a:t> market scenarios (e.g., GFC) and factor scenarios (e.g., US Tariff). Different translators are required.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Create a mapping of ES Segment → Sensitivity → Shock factors to make downstream blending easier</a:t>
            </a:r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2EB9E6-3A6E-21F1-0B63-8C62CC30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20</a:t>
            </a:fld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237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72A1-1F14-0D38-F01C-A80BEA229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D78CD-5B11-915A-10CC-059FC6607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5" y="115401"/>
            <a:ext cx="9042400" cy="404762"/>
          </a:xfrm>
        </p:spPr>
        <p:txBody>
          <a:bodyPr/>
          <a:lstStyle/>
          <a:p>
            <a:r>
              <a:rPr lang="en-CA" dirty="0"/>
              <a:t>Stress Test Automation – C. ES-based Liability/Net Impact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D8CC83D9-9A2E-8218-0812-B701A796E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556258"/>
            <a:ext cx="9042400" cy="612592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Input: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Quarterly consolidated sensitivities (Wave 1 &amp; Wave 2).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ES Segment mapping (product category, ES scaling method, currency, tax, minority interest).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All shock factors</a:t>
            </a:r>
            <a:endParaRPr lang="en-CA" sz="1400" dirty="0"/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Current Process and Output</a:t>
            </a:r>
            <a:r>
              <a:rPr lang="en-US" sz="1600" dirty="0"/>
              <a:t>: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Retrieve sensitivities by ES segment: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Asset, Liability, Net sensitivities for P&amp;L, OCI, CSM.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CS+-50, SS+-20, PE-40%/+-10%, ALDA+-10% from Wave 1.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Derive partial RF+-50/100 from Wave 1 &amp; Wave 2.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Calculate stress impact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Blend sensitivities with shock factors to get Liability and Net impact.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Sum RF, CS, SS impact for total IR impact.</a:t>
            </a:r>
            <a:endParaRPr lang="en-US" sz="1200" dirty="0"/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FX translation impact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US" sz="1200" dirty="0"/>
              <a:t>Use base total asset/liability from 1a. 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US" sz="1200" dirty="0"/>
              <a:t>Methodology depends on ES scaling method (1b).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US" sz="1200" dirty="0"/>
              <a:t>Public equity impact based on initial holdings MV.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FX impact on sensitivities</a:t>
            </a:r>
          </a:p>
          <a:p>
            <a:pPr marL="1019556" lvl="2" indent="-342900">
              <a:buFont typeface="+mj-lt"/>
              <a:buAutoNum type="alphaLcPeriod"/>
            </a:pPr>
            <a:r>
              <a:rPr lang="en-US" sz="1200" dirty="0"/>
              <a:t>Apply FX shock factors to sensitivities (2b).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Calculation IR and ALDA passthrough ratios and indicators using 2a and IR/ALDA shock factors.</a:t>
            </a:r>
          </a:p>
          <a:p>
            <a:pPr marL="681228" lvl="1" indent="-342900">
              <a:buFont typeface="+mj-lt"/>
              <a:buAutoNum type="alphaLcPeriod"/>
            </a:pPr>
            <a:endParaRPr lang="en-US" sz="14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0C91A-B809-157C-1309-2434CABB9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21</a:t>
            </a:fld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1301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73E38-228D-E4EC-0ECA-523A86699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E32E-9A35-A92D-2889-BF759E7C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5" y="-42959"/>
            <a:ext cx="9042400" cy="404762"/>
          </a:xfrm>
        </p:spPr>
        <p:txBody>
          <a:bodyPr/>
          <a:lstStyle/>
          <a:p>
            <a:r>
              <a:rPr lang="en-CA" dirty="0"/>
              <a:t>Stress Test Automation – D. Net Impact Summary</a:t>
            </a:r>
          </a:p>
        </p:txBody>
      </p:sp>
      <p:sp>
        <p:nvSpPr>
          <p:cNvPr id="31" name="Content Placeholder 30">
            <a:extLst>
              <a:ext uri="{FF2B5EF4-FFF2-40B4-BE49-F238E27FC236}">
                <a16:creationId xmlns:a16="http://schemas.microsoft.com/office/drawing/2014/main" id="{302B1DC0-676B-CA32-9833-C00794F67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" y="273356"/>
            <a:ext cx="9042400" cy="612592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Input: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 err="1"/>
              <a:t>BarraOne</a:t>
            </a:r>
            <a:r>
              <a:rPr lang="en-CA" sz="1400" dirty="0"/>
              <a:t> Asset impact (without FX)</a:t>
            </a:r>
            <a:r>
              <a:rPr lang="en-US" sz="1400" dirty="0"/>
              <a:t> by ES Segment and Adjusted Asset Group</a:t>
            </a:r>
            <a:endParaRPr lang="en-CA" sz="1400" dirty="0"/>
          </a:p>
          <a:p>
            <a:pPr marL="795528" lvl="1" indent="-457200">
              <a:buFont typeface="+mj-lt"/>
              <a:buAutoNum type="alphaLcPeriod"/>
            </a:pPr>
            <a:r>
              <a:rPr lang="en-CA" sz="1400" dirty="0"/>
              <a:t>FX (asset) impact </a:t>
            </a:r>
            <a:r>
              <a:rPr lang="en-US" sz="1400" dirty="0"/>
              <a:t>by ES Segment and Adjusted Asset Group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ES-based </a:t>
            </a:r>
            <a:r>
              <a:rPr lang="en-CA" sz="1400" dirty="0"/>
              <a:t>Liability and Net </a:t>
            </a:r>
            <a:r>
              <a:rPr lang="en-US" sz="1400" dirty="0"/>
              <a:t>impact by ES Segment and Asset Group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Base currency translation impact and FX sensitivity impact.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IR and ALDA passthrough ratios and indicators.</a:t>
            </a:r>
          </a:p>
          <a:p>
            <a:pPr marL="795528" lvl="1" indent="-457200">
              <a:buFont typeface="+mj-lt"/>
              <a:buAutoNum type="alphaLcPeriod"/>
            </a:pPr>
            <a:r>
              <a:rPr lang="en-US" sz="1400" dirty="0"/>
              <a:t>ES Segment mapping (product category, ES scaling method, investment contact indicators)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1600" dirty="0"/>
              <a:t>Current Process and Output</a:t>
            </a:r>
            <a:r>
              <a:rPr lang="en-US" sz="1600" dirty="0"/>
              <a:t>: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Calculate Net Impact (excl. FX) by ES Segment: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“Net Scaling”: use ES-based net impact (1c).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“Liability Scaling (non-Par)”: use </a:t>
            </a:r>
            <a:r>
              <a:rPr lang="en-CA" sz="1200" dirty="0" err="1"/>
              <a:t>BarraOne</a:t>
            </a:r>
            <a:r>
              <a:rPr lang="en-CA" sz="1200" dirty="0"/>
              <a:t> asset impact (1a) + ES-based liability impact (1c).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“Liability Scaling (Par)” 1a + 1c + passthrough ratio (1e).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CA" sz="1400" dirty="0"/>
              <a:t>Calculate Net FX impact by ES Segment: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“Net Scaling”: use ES-based FX impact (1d).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“Liability Scaling (non-Par)”: use </a:t>
            </a:r>
            <a:r>
              <a:rPr lang="en-CA" sz="1200" dirty="0" err="1"/>
              <a:t>BarraOne</a:t>
            </a:r>
            <a:r>
              <a:rPr lang="en-CA" sz="1200" dirty="0"/>
              <a:t> FX (asset) impact (1b) + ES-based FX (liability) impact (1d).</a:t>
            </a:r>
          </a:p>
          <a:p>
            <a:pPr marL="1019556" lvl="2" indent="-342900">
              <a:buFont typeface="+mj-lt"/>
              <a:buAutoNum type="romanLcPeriod"/>
            </a:pPr>
            <a:r>
              <a:rPr lang="en-CA" sz="1200" dirty="0"/>
              <a:t>“Liability Scaling (Par)” 1b + 1d + passthrough ratio (1e).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Special rule: For investment contracts, remove all asset and FX impacts except public equity. </a:t>
            </a:r>
          </a:p>
          <a:p>
            <a:pPr marL="0" indent="0">
              <a:buNone/>
            </a:pPr>
            <a:r>
              <a:rPr lang="en-US" sz="1600" dirty="0"/>
              <a:t>E. Aggregate: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Combine impacts by ES Segment and Asset Group (Interest Rate, Public Equity, ALDA, FX) </a:t>
            </a:r>
          </a:p>
          <a:p>
            <a:pPr marL="681228" lvl="1" indent="-342900">
              <a:buFont typeface="+mj-lt"/>
              <a:buAutoNum type="alphaLcPeriod"/>
            </a:pPr>
            <a:r>
              <a:rPr lang="en-US" sz="1400" dirty="0"/>
              <a:t>Roll up to total company level.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  <a:p>
            <a:pPr marL="681228" lvl="1" indent="-342900">
              <a:buFont typeface="+mj-lt"/>
              <a:buAutoNum type="alphaLcPeriod"/>
            </a:pPr>
            <a:endParaRPr lang="en-CA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5DC73-180F-122A-41ED-67422E5A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22</a:t>
            </a:fld>
            <a:endParaRPr lang="en-C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926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3BD0F-F082-2A50-A3D8-D5230A8E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6A2F0-9D07-9282-BAEB-3C268229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65" y="33750"/>
            <a:ext cx="8504237" cy="404762"/>
          </a:xfrm>
        </p:spPr>
        <p:txBody>
          <a:bodyPr/>
          <a:lstStyle/>
          <a:p>
            <a:r>
              <a:rPr lang="en-CA" dirty="0" err="1"/>
              <a:t>BarraOne</a:t>
            </a:r>
            <a:r>
              <a:rPr lang="en-CA" dirty="0"/>
              <a:t> Stress Test Automation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45A70-ED01-4E95-6B8A-6ADAB3CC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33B34-C87C-402E-ABB0-13B7C9DEBBC4}" type="slidenum">
              <a:rPr lang="en-CA" smtClean="0"/>
              <a:pPr/>
              <a:t>23</a:t>
            </a:fld>
            <a:endParaRPr lang="en-C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7F293B8-BF6C-51F1-A2F2-1FE85924D6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6213109"/>
              </p:ext>
            </p:extLst>
          </p:nvPr>
        </p:nvGraphicFramePr>
        <p:xfrm>
          <a:off x="0" y="546593"/>
          <a:ext cx="9144000" cy="6028384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664677">
                  <a:extLst>
                    <a:ext uri="{9D8B030D-6E8A-4147-A177-3AD203B41FA5}">
                      <a16:colId xmlns:a16="http://schemas.microsoft.com/office/drawing/2014/main" val="1729006176"/>
                    </a:ext>
                  </a:extLst>
                </a:gridCol>
                <a:gridCol w="7479323">
                  <a:extLst>
                    <a:ext uri="{9D8B030D-6E8A-4147-A177-3AD203B41FA5}">
                      <a16:colId xmlns:a16="http://schemas.microsoft.com/office/drawing/2014/main" val="2693818878"/>
                    </a:ext>
                  </a:extLst>
                </a:gridCol>
              </a:tblGrid>
              <a:tr h="328624">
                <a:tc>
                  <a:txBody>
                    <a:bodyPr/>
                    <a:lstStyle/>
                    <a:p>
                      <a:r>
                        <a:rPr lang="en-US" sz="1400" dirty="0"/>
                        <a:t>Automation 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Notes,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711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A. </a:t>
                      </a:r>
                      <a:r>
                        <a:rPr lang="en-US" sz="1400" dirty="0" err="1"/>
                        <a:t>BarraOne</a:t>
                      </a:r>
                      <a:r>
                        <a:rPr lang="en-US" sz="1400" dirty="0"/>
                        <a:t> Asset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Portfolio-ES Segment Mapping – </a:t>
                      </a: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 portfolios to ES segment for grouping.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Customized BarraOne Reports for automation – </a:t>
                      </a: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Stress test reports with portfolio and adjusted asset group as cuatomized groups</a:t>
                      </a:r>
                    </a:p>
                    <a:p>
                      <a:pPr marL="742950" lvl="1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Resolve Valuation Gaps – </a:t>
                      </a: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Fix gaps in B1 for NDF-RA and flat-spread IRS to avoid position level adjustments.</a:t>
                      </a:r>
                    </a:p>
                    <a:p>
                      <a:pPr marL="742950" lvl="1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Inbound Report Handling – </a:t>
                      </a:r>
                      <a:r>
                        <a:rPr lang="en-US" sz="14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Automation should handle two-level customized reports. </a:t>
                      </a:r>
                      <a:r>
                        <a:rPr lang="en-US" sz="1400" b="0" i="1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(Current portfolio stress test reports cannot be used for asset allocation.)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621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B. Shock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</a:t>
                      </a:r>
                      <a:r>
                        <a:rPr lang="en-US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BarraOne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scenario shocks to required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IR (RF, CS, SS)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FX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shock factors.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Build separate translators for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market vs factor scenarios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 and ALDA returns from A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required shock factors.</a:t>
                      </a:r>
                    </a:p>
                    <a:p>
                      <a:pPr marL="285750" marR="0" lvl="0" indent="-2857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 shocks to factors for sensitivity blending: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Segment → Detailed ES Sensitivity Type → Shock → Shock Factors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(for downstream blending).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613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C. ES-based Liability/Net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 Segment mapping 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details: category, scaling method, currency, investment contract indicator, etc. 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Wave 1 &amp; Wave 2 sensitivities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RF.  (Confirm if Wave 1 and Wave 2 sensitivities are available in EDL.) 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 asset and liability values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currency translation. 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Derive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Passthrough ratios and indicators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591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D. Net Impact Summary,</a:t>
                      </a:r>
                    </a:p>
                    <a:p>
                      <a:r>
                        <a:rPr lang="en-US" sz="1400" dirty="0"/>
                        <a:t>E.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Calculate net impact by ES segment using: </a:t>
                      </a:r>
                    </a:p>
                    <a:p>
                      <a:pPr marL="800100" lvl="1" indent="-342900" fontAlgn="t">
                        <a:buFont typeface="+mj-lt"/>
                        <a:buAutoNum type="arabicPeriod"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Net Scaling ,</a:t>
                      </a:r>
                    </a:p>
                    <a:p>
                      <a:pPr marL="800100" lvl="1" indent="-342900" fontAlgn="t">
                        <a:buFont typeface="+mj-lt"/>
                        <a:buAutoNum type="arabicPeriod"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Liability Scaling and passthrough ratios for Par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segments,</a:t>
                      </a:r>
                    </a:p>
                    <a:p>
                      <a:pPr marL="800100" lvl="1" indent="-342900" fontAlgn="t">
                        <a:buFont typeface="+mj-lt"/>
                        <a:buAutoNum type="arabicPeriod"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Liability Scaling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other segments.</a:t>
                      </a:r>
                    </a:p>
                    <a:p>
                      <a:pPr marL="285750" marR="0" lvl="0" indent="-28575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investment contracts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include only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Equity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(exclude other asset/FX impacts).</a:t>
                      </a:r>
                    </a:p>
                    <a:p>
                      <a:pPr marL="285750" indent="-285750" fontAlgn="t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Aggregate by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asset group (FI, PE, ALDA, FX)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into </a:t>
                      </a: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IFRS 17 components (P&amp;L, OCI, CSM)</a:t>
                      </a:r>
                      <a:endParaRPr lang="en-US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1091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60945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325099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2"/>
  <p:tag name="SN" val="HIDDE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3"/>
  <p:tag name="SN" val="HIDDE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4"/>
  <p:tag name="SN" val="HIDDE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UNT" val="2"/>
  <p:tag name="SN" val="HIDDEN"/>
</p:tagLst>
</file>

<file path=ppt/theme/theme1.xml><?xml version="1.0" encoding="utf-8"?>
<a:theme xmlns:a="http://schemas.openxmlformats.org/drawingml/2006/main" name="Manulife layouts">
  <a:themeElements>
    <a:clrScheme name="Theme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EC6453"/>
      </a:accent3>
      <a:accent4>
        <a:srgbClr val="604584"/>
      </a:accent4>
      <a:accent5>
        <a:srgbClr val="F49600"/>
      </a:accent5>
      <a:accent6>
        <a:srgbClr val="06C7BA"/>
      </a:accent6>
      <a:hlink>
        <a:srgbClr val="0000C1"/>
      </a:hlink>
      <a:folHlink>
        <a:srgbClr val="0000C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182880" tIns="45720" rIns="18288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33363" indent="-233363" algn="l">
          <a:spcBef>
            <a:spcPts val="600"/>
          </a:spcBef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nulife PPT Template_4x3_EN.pptx" id="{1E2EBDB2-95A3-4D71-9D15-953F02C8ABA1}" vid="{7BA8B110-82A9-43FA-8B71-641197A30DD9}"/>
    </a:ext>
  </a:extLst>
</a:theme>
</file>

<file path=ppt/theme/theme2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New Brand Final">
      <a:dk1>
        <a:sysClr val="windowText" lastClr="000000"/>
      </a:dk1>
      <a:lt1>
        <a:sysClr val="window" lastClr="FFFFFF"/>
      </a:lt1>
      <a:dk2>
        <a:srgbClr val="282B3E"/>
      </a:dk2>
      <a:lt2>
        <a:srgbClr val="8E90A2"/>
      </a:lt2>
      <a:accent1>
        <a:srgbClr val="00A758"/>
      </a:accent1>
      <a:accent2>
        <a:srgbClr val="0000C1"/>
      </a:accent2>
      <a:accent3>
        <a:srgbClr val="FF7769"/>
      </a:accent3>
      <a:accent4>
        <a:srgbClr val="361558"/>
      </a:accent4>
      <a:accent5>
        <a:srgbClr val="F49600"/>
      </a:accent5>
      <a:accent6>
        <a:srgbClr val="05B2A7"/>
      </a:accent6>
      <a:hlink>
        <a:srgbClr val="0000C1"/>
      </a:hlink>
      <a:folHlink>
        <a:srgbClr val="954F7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6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B90F7213FBBB499B46485C5FBE02CA" ma:contentTypeVersion="11" ma:contentTypeDescription="Create a new document." ma:contentTypeScope="" ma:versionID="01da6303b2c68185e4ea0ae30f64fdb6">
  <xsd:schema xmlns:xsd="http://www.w3.org/2001/XMLSchema" xmlns:xs="http://www.w3.org/2001/XMLSchema" xmlns:p="http://schemas.microsoft.com/office/2006/metadata/properties" xmlns:ns2="78784409-5210-407c-99cf-f460d2e31a5e" xmlns:ns3="c12886e0-e552-4999-964a-a6c2f4ccb2b1" targetNamespace="http://schemas.microsoft.com/office/2006/metadata/properties" ma:root="true" ma:fieldsID="032c4955d4ccff53b6f7559e0d465ae3" ns2:_="" ns3:_="">
    <xsd:import namespace="78784409-5210-407c-99cf-f460d2e31a5e"/>
    <xsd:import namespace="c12886e0-e552-4999-964a-a6c2f4ccb2b1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784409-5210-407c-99cf-f460d2e31a5e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c039845-d277-466e-a9af-ee1ca770c93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2886e0-e552-4999-964a-a6c2f4ccb2b1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1d945716-86e3-48ca-97ad-462a714d5c8e}" ma:internalName="TaxCatchAll" ma:showField="CatchAllData" ma:web="8cd100f0-330f-47ed-9500-4feb3d52e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784409-5210-407c-99cf-f460d2e31a5e">
      <Terms xmlns="http://schemas.microsoft.com/office/infopath/2007/PartnerControls"/>
    </lcf76f155ced4ddcb4097134ff3c332f>
    <TaxCatchAll xmlns="c12886e0-e552-4999-964a-a6c2f4ccb2b1" xsi:nil="true"/>
  </documentManagement>
</p:properties>
</file>

<file path=customXml/itemProps1.xml><?xml version="1.0" encoding="utf-8"?>
<ds:datastoreItem xmlns:ds="http://schemas.openxmlformats.org/officeDocument/2006/customXml" ds:itemID="{882D68C2-1219-47A7-8F68-80A154222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784409-5210-407c-99cf-f460d2e31a5e"/>
    <ds:schemaRef ds:uri="c12886e0-e552-4999-964a-a6c2f4ccb2b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F8358E-F188-4BD7-BB23-3E0AC12A6C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E44FF8-5273-47E2-A363-FAA28C93EEBB}">
  <ds:schemaRefs>
    <ds:schemaRef ds:uri="http://purl.org/dc/dcmitype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metadata/properties"/>
    <ds:schemaRef ds:uri="c12886e0-e552-4999-964a-a6c2f4ccb2b1"/>
    <ds:schemaRef ds:uri="78784409-5210-407c-99cf-f460d2e31a5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Manulife PPT Template_4x3_EN</Template>
  <TotalTime>25344</TotalTime>
  <Words>3487</Words>
  <Application>Microsoft Office PowerPoint</Application>
  <PresentationFormat>On-screen Show (4:3)</PresentationFormat>
  <Paragraphs>585</Paragraphs>
  <Slides>24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Manulife JH Sans</vt:lpstr>
      <vt:lpstr>Wingdings</vt:lpstr>
      <vt:lpstr>Manulife layouts</vt:lpstr>
      <vt:lpstr>BarraOne Stress Test  Process</vt:lpstr>
      <vt:lpstr>Stress Test Process Overview – BRC GFC vs. BarraOne (B1)</vt:lpstr>
      <vt:lpstr>BarraOne Stress Test – Sample Output</vt:lpstr>
      <vt:lpstr>BarraOne Stress Test Automation (Future State)</vt:lpstr>
      <vt:lpstr>Stress Test Automation – A. BarraOne Asset Impact</vt:lpstr>
      <vt:lpstr>A. BarraOne Asset Impact – Sample Stress Test Report</vt:lpstr>
      <vt:lpstr>A. BarraOne Asset Impact – Sample Segment Impact</vt:lpstr>
      <vt:lpstr>Stress Test Automation – B. Shock Conversion</vt:lpstr>
      <vt:lpstr>B. Shock Conversion – Sample BarraOne</vt:lpstr>
      <vt:lpstr>B. Shock Conversion – ES Sensitivity Type and Sample Shocks</vt:lpstr>
      <vt:lpstr>B. Shock Conversion – ES Sensitivity Factor Conversion</vt:lpstr>
      <vt:lpstr>Stress Test Automation – C. ES-based Liability/Net Impact</vt:lpstr>
      <vt:lpstr>C. ES-based Liability/Net Impact – ES Sample</vt:lpstr>
      <vt:lpstr>C. ES-based Liability/Net Impact – Detailed ES Sensitivity</vt:lpstr>
      <vt:lpstr>Methodology Assumptions used for stress test using BarraOne and Liability overlay </vt:lpstr>
      <vt:lpstr>Appendix</vt:lpstr>
      <vt:lpstr>Current BarraOne Stress Test Process (Excel-based)</vt:lpstr>
      <vt:lpstr>BarraOne Stress Test Automation – Data Format</vt:lpstr>
      <vt:lpstr>Stress Test Automation – A. BarraOne Asset Impact</vt:lpstr>
      <vt:lpstr>Stress Test Automation – B. Shock Conversion</vt:lpstr>
      <vt:lpstr>Stress Test Automation – C. ES-based Liability/Net Impact</vt:lpstr>
      <vt:lpstr>Stress Test Automation – D. Net Impact Summary</vt:lpstr>
      <vt:lpstr>BarraOne Stress Test Automation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 Zhang</dc:creator>
  <cp:lastModifiedBy>Prashanth Patil</cp:lastModifiedBy>
  <cp:revision>42</cp:revision>
  <dcterms:created xsi:type="dcterms:W3CDTF">2025-12-16T15:50:47Z</dcterms:created>
  <dcterms:modified xsi:type="dcterms:W3CDTF">2026-05-20T14:29:00Z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0x010100D6B90F7213FBBB499B46485C5FBE02CA</vt:lpwstr>
  </property>
  <property fmtid="{D5CDD505-2E9C-101B-9397-08002B2CF9AE}" pid="3" name="MSIP_Label_3c9aa860-6a65-4942-a19a-0478291725e1_Enabled">
    <vt:lpwstr>true</vt:lpwstr>
  </property>
  <property fmtid="{D5CDD505-2E9C-101B-9397-08002B2CF9AE}" pid="4" name="MSIP_Label_3c9aa860-6a65-4942-a19a-0478291725e1_SetDate">
    <vt:lpwstr>2025-12-16T20:39:25Z</vt:lpwstr>
  </property>
  <property fmtid="{D5CDD505-2E9C-101B-9397-08002B2CF9AE}" pid="5" name="MSIP_Label_3c9aa860-6a65-4942-a19a-0478291725e1_Method">
    <vt:lpwstr>Privileged</vt:lpwstr>
  </property>
  <property fmtid="{D5CDD505-2E9C-101B-9397-08002B2CF9AE}" pid="6" name="MSIP_Label_3c9aa860-6a65-4942-a19a-0478291725e1_Name">
    <vt:lpwstr>CONFIDENTIAL</vt:lpwstr>
  </property>
  <property fmtid="{D5CDD505-2E9C-101B-9397-08002B2CF9AE}" pid="7" name="MSIP_Label_3c9aa860-6a65-4942-a19a-0478291725e1_SiteId">
    <vt:lpwstr>5d3e2773-e07f-4432-a630-1a0f68a28a05</vt:lpwstr>
  </property>
  <property fmtid="{D5CDD505-2E9C-101B-9397-08002B2CF9AE}" pid="8" name="MSIP_Label_3c9aa860-6a65-4942-a19a-0478291725e1_ActionId">
    <vt:lpwstr>504e755d-01bb-43c3-8ea7-8e262d8e909b</vt:lpwstr>
  </property>
  <property fmtid="{D5CDD505-2E9C-101B-9397-08002B2CF9AE}" pid="9" name="MSIP_Label_3c9aa860-6a65-4942-a19a-0478291725e1_ContentBits">
    <vt:lpwstr>2</vt:lpwstr>
  </property>
  <property fmtid="{D5CDD505-2E9C-101B-9397-08002B2CF9AE}" pid="10" name="MSIP_Label_3c9aa860-6a65-4942-a19a-0478291725e1_Tag">
    <vt:lpwstr>10, 0, 1, 1</vt:lpwstr>
  </property>
  <property fmtid="{D5CDD505-2E9C-101B-9397-08002B2CF9AE}" pid="11" name="ClassificationContentMarkingFooterLocations">
    <vt:lpwstr>Manulife layouts:9</vt:lpwstr>
  </property>
  <property fmtid="{D5CDD505-2E9C-101B-9397-08002B2CF9AE}" pid="12" name="ClassificationContentMarkingFooterText">
    <vt:lpwstr>CONFIDENTIAL</vt:lpwstr>
  </property>
</Properties>
</file>